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862F609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2918400" cy="19202400"/>
  <p:notesSz cx="7004050" cy="9290050"/>
  <p:defaultTextStyle>
    <a:defPPr>
      <a:defRPr lang="en-US"/>
    </a:defPPr>
    <a:lvl1pPr marL="0" algn="l" defTabSz="2232860" rtl="0" eaLnBrk="1" latinLnBrk="0" hangingPunct="1">
      <a:defRPr sz="4400" kern="1200">
        <a:solidFill>
          <a:schemeClr val="tx1"/>
        </a:solidFill>
        <a:latin typeface="+mn-lt"/>
        <a:ea typeface="+mn-ea"/>
        <a:cs typeface="+mn-cs"/>
      </a:defRPr>
    </a:lvl1pPr>
    <a:lvl2pPr marL="1116431" algn="l" defTabSz="2232860" rtl="0" eaLnBrk="1" latinLnBrk="0" hangingPunct="1">
      <a:defRPr sz="4400" kern="1200">
        <a:solidFill>
          <a:schemeClr val="tx1"/>
        </a:solidFill>
        <a:latin typeface="+mn-lt"/>
        <a:ea typeface="+mn-ea"/>
        <a:cs typeface="+mn-cs"/>
      </a:defRPr>
    </a:lvl2pPr>
    <a:lvl3pPr marL="2232860" algn="l" defTabSz="2232860" rtl="0" eaLnBrk="1" latinLnBrk="0" hangingPunct="1">
      <a:defRPr sz="4400" kern="1200">
        <a:solidFill>
          <a:schemeClr val="tx1"/>
        </a:solidFill>
        <a:latin typeface="+mn-lt"/>
        <a:ea typeface="+mn-ea"/>
        <a:cs typeface="+mn-cs"/>
      </a:defRPr>
    </a:lvl3pPr>
    <a:lvl4pPr marL="3349292" algn="l" defTabSz="2232860" rtl="0" eaLnBrk="1" latinLnBrk="0" hangingPunct="1">
      <a:defRPr sz="4400" kern="1200">
        <a:solidFill>
          <a:schemeClr val="tx1"/>
        </a:solidFill>
        <a:latin typeface="+mn-lt"/>
        <a:ea typeface="+mn-ea"/>
        <a:cs typeface="+mn-cs"/>
      </a:defRPr>
    </a:lvl4pPr>
    <a:lvl5pPr marL="4465721" algn="l" defTabSz="2232860" rtl="0" eaLnBrk="1" latinLnBrk="0" hangingPunct="1">
      <a:defRPr sz="4400" kern="1200">
        <a:solidFill>
          <a:schemeClr val="tx1"/>
        </a:solidFill>
        <a:latin typeface="+mn-lt"/>
        <a:ea typeface="+mn-ea"/>
        <a:cs typeface="+mn-cs"/>
      </a:defRPr>
    </a:lvl5pPr>
    <a:lvl6pPr marL="5582151" algn="l" defTabSz="2232860" rtl="0" eaLnBrk="1" latinLnBrk="0" hangingPunct="1">
      <a:defRPr sz="4400" kern="1200">
        <a:solidFill>
          <a:schemeClr val="tx1"/>
        </a:solidFill>
        <a:latin typeface="+mn-lt"/>
        <a:ea typeface="+mn-ea"/>
        <a:cs typeface="+mn-cs"/>
      </a:defRPr>
    </a:lvl6pPr>
    <a:lvl7pPr marL="6698580" algn="l" defTabSz="2232860" rtl="0" eaLnBrk="1" latinLnBrk="0" hangingPunct="1">
      <a:defRPr sz="4400" kern="1200">
        <a:solidFill>
          <a:schemeClr val="tx1"/>
        </a:solidFill>
        <a:latin typeface="+mn-lt"/>
        <a:ea typeface="+mn-ea"/>
        <a:cs typeface="+mn-cs"/>
      </a:defRPr>
    </a:lvl7pPr>
    <a:lvl8pPr marL="7815011" algn="l" defTabSz="2232860" rtl="0" eaLnBrk="1" latinLnBrk="0" hangingPunct="1">
      <a:defRPr sz="4400" kern="1200">
        <a:solidFill>
          <a:schemeClr val="tx1"/>
        </a:solidFill>
        <a:latin typeface="+mn-lt"/>
        <a:ea typeface="+mn-ea"/>
        <a:cs typeface="+mn-cs"/>
      </a:defRPr>
    </a:lvl8pPr>
    <a:lvl9pPr marL="8931443" algn="l" defTabSz="2232860" rtl="0" eaLnBrk="1" latinLnBrk="0" hangingPunct="1">
      <a:defRPr sz="44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504F74B-8338-44EC-8C99-811E1DC57685}">
          <p14:sldIdLst/>
        </p14:section>
        <p14:section name="Untitled Section" id="{A9D492FA-1D8E-4DC4-BD3C-0FDB3D74800D}">
          <p14:sldIdLst>
            <p14:sldId id="256"/>
          </p14:sldIdLst>
        </p14:section>
      </p14:sectionLst>
    </p:ext>
    <p:ext uri="{EFAFB233-063F-42B5-8137-9DF3F51BA10A}">
      <p15:sldGuideLst xmlns:p15="http://schemas.microsoft.com/office/powerpoint/2012/main">
        <p15:guide id="1" orient="horz" pos="6048">
          <p15:clr>
            <a:srgbClr val="A4A3A4"/>
          </p15:clr>
        </p15:guide>
        <p15:guide id="2" pos="10368">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26A4F0-3D69-BFFB-FE43-383FB3CFC5E3}" name="Ulises Miguel Balbuena Figueroa" initials="UF" userId="S::umb5@cornell.edu::12370f64-72a1-4515-a4ec-a0f4b4912aa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6E610-1090-6B4A-8EDF-4E64FEAF831D}" v="1" dt="2026-05-16T07:40:45.974"/>
    <p1510:client id="{5D6F5F37-165C-A524-405B-2C82519DA701}" v="2" dt="2024-11-22T11:03:16.054"/>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94"/>
  </p:normalViewPr>
  <p:slideViewPr>
    <p:cSldViewPr snapToGrid="0">
      <p:cViewPr varScale="1">
        <p:scale>
          <a:sx n="28" d="100"/>
          <a:sy n="28" d="100"/>
        </p:scale>
        <p:origin x="200" y="424"/>
      </p:cViewPr>
      <p:guideLst>
        <p:guide orient="horz" pos="6048"/>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862F6096.xml><?xml version="1.0" encoding="utf-8"?>
<p188:cmLst xmlns:a="http://schemas.openxmlformats.org/drawingml/2006/main" xmlns:r="http://schemas.openxmlformats.org/officeDocument/2006/relationships" xmlns:p188="http://schemas.microsoft.com/office/powerpoint/2018/8/main">
  <p188:cm id="{72040BAE-A1B4-4498-8863-87C9D5548997}" authorId="{FF26A4F0-3D69-BFFB-FE43-383FB3CFC5E3}" created="2024-04-25T20:36:17.980">
    <ac:deMkLst xmlns:ac="http://schemas.microsoft.com/office/drawing/2013/main/command">
      <pc:docMk xmlns:pc="http://schemas.microsoft.com/office/powerpoint/2013/main/command"/>
      <pc:sldMk xmlns:pc="http://schemas.microsoft.com/office/powerpoint/2013/main/command" cId="2251251862" sldId="256"/>
      <ac:spMk id="13" creationId="{00000000-0000-0000-0000-000000000000}"/>
    </ac:deMkLst>
    <p188:txBody>
      <a:bodyPr/>
      <a:lstStyle/>
      <a:p>
        <a:r>
          <a:rPr lang="en-US"/>
          <a:t>wouldn't be better to have the derivation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539A8C8A-64BD-144D-A16E-13665B4DF141}" type="datetimeFigureOut">
              <a:rPr lang="en-US" smtClean="0"/>
              <a:t>5/16/26</a:t>
            </a:fld>
            <a:endParaRPr lang="en-US"/>
          </a:p>
        </p:txBody>
      </p:sp>
      <p:sp>
        <p:nvSpPr>
          <p:cNvPr id="4" name="Slide Image Placeholder 3"/>
          <p:cNvSpPr>
            <a:spLocks noGrp="1" noRot="1" noChangeAspect="1"/>
          </p:cNvSpPr>
          <p:nvPr>
            <p:ph type="sldImg" idx="2"/>
          </p:nvPr>
        </p:nvSpPr>
        <p:spPr>
          <a:xfrm>
            <a:off x="814388" y="1162050"/>
            <a:ext cx="5375275" cy="31353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2BAC227C-46CE-FF48-A747-80C6E7812DA1}" type="slidenum">
              <a:rPr lang="en-US" smtClean="0"/>
              <a:t>‹#›</a:t>
            </a:fld>
            <a:endParaRPr lang="en-US"/>
          </a:p>
        </p:txBody>
      </p:sp>
    </p:spTree>
    <p:extLst>
      <p:ext uri="{BB962C8B-B14F-4D97-AF65-F5344CB8AC3E}">
        <p14:creationId xmlns:p14="http://schemas.microsoft.com/office/powerpoint/2010/main" val="1361624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BAC227C-46CE-FF48-A747-80C6E7812DA1}" type="slidenum">
              <a:rPr lang="en-US" smtClean="0"/>
              <a:t>1</a:t>
            </a:fld>
            <a:endParaRPr lang="en-US"/>
          </a:p>
        </p:txBody>
      </p:sp>
    </p:spTree>
    <p:extLst>
      <p:ext uri="{BB962C8B-B14F-4D97-AF65-F5344CB8AC3E}">
        <p14:creationId xmlns:p14="http://schemas.microsoft.com/office/powerpoint/2010/main" val="11284225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Rectangle 14"/>
          <p:cNvSpPr/>
          <p:nvPr userDrawn="1"/>
        </p:nvSpPr>
        <p:spPr>
          <a:xfrm>
            <a:off x="32461200" y="0"/>
            <a:ext cx="457200" cy="19202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a:p>
        </p:txBody>
      </p:sp>
      <p:sp>
        <p:nvSpPr>
          <p:cNvPr id="16" name="Rectangle 15"/>
          <p:cNvSpPr/>
          <p:nvPr userDrawn="1"/>
        </p:nvSpPr>
        <p:spPr>
          <a:xfrm>
            <a:off x="0" y="0"/>
            <a:ext cx="457200" cy="19202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a:p>
        </p:txBody>
      </p:sp>
      <p:sp>
        <p:nvSpPr>
          <p:cNvPr id="17" name="Rectangle 16"/>
          <p:cNvSpPr/>
          <p:nvPr userDrawn="1"/>
        </p:nvSpPr>
        <p:spPr>
          <a:xfrm>
            <a:off x="0" y="0"/>
            <a:ext cx="32918400" cy="24003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a:p>
        </p:txBody>
      </p:sp>
      <p:sp>
        <p:nvSpPr>
          <p:cNvPr id="18" name="Rectangle 17"/>
          <p:cNvSpPr/>
          <p:nvPr userDrawn="1"/>
        </p:nvSpPr>
        <p:spPr>
          <a:xfrm>
            <a:off x="0" y="16802100"/>
            <a:ext cx="32918400" cy="24003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a:p>
        </p:txBody>
      </p:sp>
      <p:sp>
        <p:nvSpPr>
          <p:cNvPr id="11" name="Instructions"/>
          <p:cNvSpPr/>
          <p:nvPr userDrawn="1"/>
        </p:nvSpPr>
        <p:spPr>
          <a:xfrm>
            <a:off x="-6583680" y="0"/>
            <a:ext cx="6126480" cy="19202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6296" tIns="116296" rIns="116296" bIns="116296"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222"/>
              </a:spcAft>
            </a:pPr>
            <a:r>
              <a:rPr lang="en-US" sz="4400">
                <a:solidFill>
                  <a:srgbClr val="7F7F7F"/>
                </a:solidFill>
                <a:latin typeface="Calibri" pitchFamily="34" charset="0"/>
                <a:cs typeface="Calibri" panose="020F0502020204030204" pitchFamily="34" charset="0"/>
              </a:rPr>
              <a:t>Poster Print Size:</a:t>
            </a:r>
            <a:endParaRPr sz="4400">
              <a:solidFill>
                <a:srgbClr val="7F7F7F"/>
              </a:solidFill>
              <a:latin typeface="Calibri" pitchFamily="34" charset="0"/>
              <a:cs typeface="Calibri" panose="020F0502020204030204" pitchFamily="34" charset="0"/>
            </a:endParaRPr>
          </a:p>
          <a:p>
            <a:pPr lvl="0">
              <a:spcBef>
                <a:spcPts val="0"/>
              </a:spcBef>
              <a:spcAft>
                <a:spcPts val="1222"/>
              </a:spcAft>
            </a:pPr>
            <a:r>
              <a:rPr lang="en-US" sz="2800">
                <a:solidFill>
                  <a:srgbClr val="7F7F7F"/>
                </a:solidFill>
                <a:latin typeface="Calibri" pitchFamily="34" charset="0"/>
                <a:cs typeface="Calibri" panose="020F0502020204030204" pitchFamily="34" charset="0"/>
              </a:rPr>
              <a:t>This poster template is 21” high by 36” wide and is printed at 200% for a 42” high by 72” wide poster. It can be used to print any poster with a 7:12 aspect ratio.</a:t>
            </a:r>
          </a:p>
          <a:p>
            <a:pPr lvl="0">
              <a:spcBef>
                <a:spcPts val="0"/>
              </a:spcBef>
              <a:spcAft>
                <a:spcPts val="1222"/>
              </a:spcAft>
            </a:pPr>
            <a:r>
              <a:rPr lang="en-US" sz="4400">
                <a:solidFill>
                  <a:srgbClr val="7F7F7F"/>
                </a:solidFill>
                <a:latin typeface="Calibri" pitchFamily="34" charset="0"/>
                <a:cs typeface="Calibri" panose="020F0502020204030204" pitchFamily="34" charset="0"/>
              </a:rPr>
              <a:t>Placeholders</a:t>
            </a:r>
            <a:r>
              <a:rPr sz="4400">
                <a:solidFill>
                  <a:srgbClr val="7F7F7F"/>
                </a:solidFill>
                <a:latin typeface="Calibri" pitchFamily="34" charset="0"/>
                <a:cs typeface="Calibri" panose="020F0502020204030204" pitchFamily="34" charset="0"/>
              </a:rPr>
              <a:t>:</a:t>
            </a:r>
          </a:p>
          <a:p>
            <a:pPr lvl="0">
              <a:spcBef>
                <a:spcPts val="0"/>
              </a:spcBef>
              <a:spcAft>
                <a:spcPts val="1222"/>
              </a:spcAft>
            </a:pPr>
            <a:r>
              <a:rPr sz="2800">
                <a:solidFill>
                  <a:srgbClr val="7F7F7F"/>
                </a:solidFill>
                <a:latin typeface="Calibri" pitchFamily="34" charset="0"/>
                <a:cs typeface="Calibri" panose="020F0502020204030204" pitchFamily="34" charset="0"/>
              </a:rPr>
              <a:t>The </a:t>
            </a:r>
            <a:r>
              <a:rPr lang="en-US" sz="2800">
                <a:solidFill>
                  <a:srgbClr val="7F7F7F"/>
                </a:solidFill>
                <a:latin typeface="Calibri" pitchFamily="34" charset="0"/>
                <a:cs typeface="Calibri" panose="020F0502020204030204" pitchFamily="34" charset="0"/>
              </a:rPr>
              <a:t>various elements included</a:t>
            </a:r>
            <a:r>
              <a:rPr sz="2800">
                <a:solidFill>
                  <a:srgbClr val="7F7F7F"/>
                </a:solidFill>
                <a:latin typeface="Calibri" pitchFamily="34" charset="0"/>
                <a:cs typeface="Calibri" panose="020F0502020204030204" pitchFamily="34" charset="0"/>
              </a:rPr>
              <a:t> in this </a:t>
            </a:r>
            <a:r>
              <a:rPr lang="en-US" sz="2800">
                <a:solidFill>
                  <a:srgbClr val="7F7F7F"/>
                </a:solidFill>
                <a:latin typeface="Calibri" pitchFamily="34" charset="0"/>
                <a:cs typeface="Calibri" panose="020F0502020204030204" pitchFamily="34" charset="0"/>
              </a:rPr>
              <a:t>poster are ones</a:t>
            </a:r>
            <a:r>
              <a:rPr lang="en-US" sz="2800" baseline="0">
                <a:solidFill>
                  <a:srgbClr val="7F7F7F"/>
                </a:solidFill>
                <a:latin typeface="Calibri" pitchFamily="34" charset="0"/>
                <a:cs typeface="Calibri" panose="020F0502020204030204" pitchFamily="34" charset="0"/>
              </a:rPr>
              <a:t> we often see in medical, research, and scientific posters.</a:t>
            </a:r>
            <a:r>
              <a:rPr sz="2800">
                <a:solidFill>
                  <a:srgbClr val="7F7F7F"/>
                </a:solidFill>
                <a:latin typeface="Calibri" pitchFamily="34" charset="0"/>
                <a:cs typeface="Calibri" panose="020F0502020204030204" pitchFamily="34" charset="0"/>
              </a:rPr>
              <a:t> </a:t>
            </a:r>
            <a:r>
              <a:rPr lang="en-US" sz="2800">
                <a:solidFill>
                  <a:srgbClr val="7F7F7F"/>
                </a:solidFill>
                <a:latin typeface="Calibri" pitchFamily="34" charset="0"/>
                <a:cs typeface="Calibri" panose="020F0502020204030204" pitchFamily="34" charset="0"/>
              </a:rPr>
              <a:t>Feel</a:t>
            </a:r>
            <a:r>
              <a:rPr lang="en-US" sz="2800" baseline="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222"/>
              </a:spcAft>
            </a:pPr>
            <a:r>
              <a:rPr lang="en-US" sz="4400">
                <a:solidFill>
                  <a:srgbClr val="7F7F7F"/>
                </a:solidFill>
                <a:latin typeface="Calibri" pitchFamily="34" charset="0"/>
                <a:cs typeface="Calibri" panose="020F0502020204030204" pitchFamily="34" charset="0"/>
              </a:rPr>
              <a:t>Image</a:t>
            </a:r>
            <a:r>
              <a:rPr lang="en-US" sz="4400" baseline="0">
                <a:solidFill>
                  <a:srgbClr val="7F7F7F"/>
                </a:solidFill>
                <a:latin typeface="Calibri" pitchFamily="34" charset="0"/>
                <a:cs typeface="Calibri" panose="020F0502020204030204" pitchFamily="34" charset="0"/>
              </a:rPr>
              <a:t> Quality</a:t>
            </a:r>
            <a:r>
              <a:rPr lang="en-US" sz="4400">
                <a:solidFill>
                  <a:srgbClr val="7F7F7F"/>
                </a:solidFill>
                <a:latin typeface="Calibri" pitchFamily="34" charset="0"/>
                <a:cs typeface="Calibri" panose="020F0502020204030204" pitchFamily="34" charset="0"/>
              </a:rPr>
              <a:t>:</a:t>
            </a:r>
          </a:p>
          <a:p>
            <a:pPr lvl="0">
              <a:spcBef>
                <a:spcPts val="0"/>
              </a:spcBef>
              <a:spcAft>
                <a:spcPts val="1222"/>
              </a:spcAft>
            </a:pPr>
            <a:r>
              <a:rPr lang="en-US" sz="2800">
                <a:solidFill>
                  <a:srgbClr val="7F7F7F"/>
                </a:solidFill>
                <a:latin typeface="Calibri" pitchFamily="34" charset="0"/>
                <a:cs typeface="Calibri" panose="020F0502020204030204" pitchFamily="34" charset="0"/>
              </a:rPr>
              <a:t>You can place digital photos or logo art in your poster file by selecting the </a:t>
            </a:r>
            <a:r>
              <a:rPr lang="en-US" sz="2800" b="1">
                <a:solidFill>
                  <a:srgbClr val="7F7F7F"/>
                </a:solidFill>
                <a:latin typeface="Calibri" pitchFamily="34" charset="0"/>
                <a:cs typeface="Calibri" panose="020F0502020204030204" pitchFamily="34" charset="0"/>
              </a:rPr>
              <a:t>Insert, Picture</a:t>
            </a:r>
            <a:r>
              <a:rPr lang="en-US" sz="280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2800" b="1">
                <a:solidFill>
                  <a:srgbClr val="7F7F7F"/>
                </a:solidFill>
                <a:latin typeface="Calibri" pitchFamily="34" charset="0"/>
                <a:cs typeface="Calibri" panose="020F0502020204030204" pitchFamily="34" charset="0"/>
              </a:rPr>
              <a:t>150-200 pixels per inch in their final printed size</a:t>
            </a:r>
            <a:r>
              <a:rPr lang="en-US" sz="2800">
                <a:solidFill>
                  <a:srgbClr val="7F7F7F"/>
                </a:solidFill>
                <a:latin typeface="Calibri" pitchFamily="34" charset="0"/>
                <a:cs typeface="Calibri" panose="020F0502020204030204" pitchFamily="34" charset="0"/>
              </a:rPr>
              <a:t>. For instance, a 1600 x 1200 pixel</a:t>
            </a:r>
            <a:r>
              <a:rPr lang="en-US" sz="2800" baseline="0">
                <a:solidFill>
                  <a:srgbClr val="7F7F7F"/>
                </a:solidFill>
                <a:latin typeface="Calibri" pitchFamily="34" charset="0"/>
                <a:cs typeface="Calibri" panose="020F0502020204030204" pitchFamily="34" charset="0"/>
              </a:rPr>
              <a:t> photo will usually look fine up to </a:t>
            </a:r>
            <a:r>
              <a:rPr lang="en-US" sz="2800">
                <a:solidFill>
                  <a:srgbClr val="7F7F7F"/>
                </a:solidFill>
                <a:latin typeface="Calibri" pitchFamily="34" charset="0"/>
                <a:cs typeface="Calibri" panose="020F0502020204030204" pitchFamily="34" charset="0"/>
              </a:rPr>
              <a:t>8“-10” wide on your printed poster.</a:t>
            </a:r>
          </a:p>
          <a:p>
            <a:pPr lvl="0">
              <a:spcBef>
                <a:spcPts val="0"/>
              </a:spcBef>
              <a:spcAft>
                <a:spcPts val="1222"/>
              </a:spcAft>
            </a:pPr>
            <a:r>
              <a:rPr lang="en-US" sz="280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222"/>
              </a:spcAft>
            </a:pPr>
            <a:r>
              <a:rPr lang="en-US" sz="280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222"/>
              </a:spcAft>
            </a:pPr>
            <a:br>
              <a:rPr lang="en-US" sz="2400">
                <a:solidFill>
                  <a:srgbClr val="7F7F7F"/>
                </a:solidFill>
                <a:latin typeface="Calibri" pitchFamily="34" charset="0"/>
                <a:cs typeface="Calibri" panose="020F0502020204030204" pitchFamily="34" charset="0"/>
              </a:rPr>
            </a:br>
            <a:r>
              <a:rPr lang="en-US" sz="240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33375600" y="0"/>
            <a:ext cx="6217920" cy="192024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222"/>
                </a:spcAft>
              </a:pPr>
              <a:r>
                <a:rPr lang="en-US" sz="4400">
                  <a:solidFill>
                    <a:schemeClr val="bg1">
                      <a:lumMod val="50000"/>
                    </a:schemeClr>
                  </a:solidFill>
                  <a:latin typeface="Calibri" pitchFamily="34" charset="0"/>
                  <a:cs typeface="Calibri" panose="020F0502020204030204" pitchFamily="34" charset="0"/>
                </a:rPr>
                <a:t>Change</a:t>
              </a:r>
              <a:r>
                <a:rPr lang="en-US" sz="4400" baseline="0">
                  <a:solidFill>
                    <a:schemeClr val="bg1">
                      <a:lumMod val="50000"/>
                    </a:schemeClr>
                  </a:solidFill>
                  <a:latin typeface="Calibri" pitchFamily="34" charset="0"/>
                  <a:cs typeface="Calibri" panose="020F0502020204030204" pitchFamily="34" charset="0"/>
                </a:rPr>
                <a:t> Color Theme</a:t>
              </a:r>
              <a:r>
                <a:rPr lang="en-US" sz="4400">
                  <a:solidFill>
                    <a:schemeClr val="bg1">
                      <a:lumMod val="50000"/>
                    </a:schemeClr>
                  </a:solidFill>
                  <a:latin typeface="Calibri" pitchFamily="34" charset="0"/>
                  <a:cs typeface="Calibri" panose="020F0502020204030204" pitchFamily="34" charset="0"/>
                </a:rPr>
                <a:t>:</a:t>
              </a:r>
              <a:endParaRPr sz="440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r>
                <a:rPr lang="en-US" sz="2800">
                  <a:solidFill>
                    <a:schemeClr val="bg1">
                      <a:lumMod val="50000"/>
                    </a:schemeClr>
                  </a:solidFill>
                  <a:latin typeface="Calibri" pitchFamily="34" charset="0"/>
                  <a:cs typeface="Calibri" panose="020F0502020204030204" pitchFamily="34" charset="0"/>
                </a:rPr>
                <a:t>This template is designed to use the built-in color themes in</a:t>
              </a:r>
              <a:r>
                <a:rPr lang="en-US" sz="2800" baseline="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222"/>
                </a:spcAft>
              </a:pPr>
              <a:r>
                <a:rPr lang="en-US" sz="2800" baseline="0">
                  <a:solidFill>
                    <a:schemeClr val="bg1">
                      <a:lumMod val="50000"/>
                    </a:schemeClr>
                  </a:solidFill>
                  <a:latin typeface="Calibri" pitchFamily="34" charset="0"/>
                  <a:cs typeface="Calibri" panose="020F0502020204030204" pitchFamily="34" charset="0"/>
                </a:rPr>
                <a:t>To change the color theme, select the </a:t>
              </a:r>
              <a:r>
                <a:rPr lang="en-US" sz="2800" b="1" baseline="0">
                  <a:solidFill>
                    <a:schemeClr val="bg1">
                      <a:lumMod val="50000"/>
                    </a:schemeClr>
                  </a:solidFill>
                  <a:latin typeface="Calibri" pitchFamily="34" charset="0"/>
                  <a:cs typeface="Calibri" panose="020F0502020204030204" pitchFamily="34" charset="0"/>
                </a:rPr>
                <a:t>Design</a:t>
              </a:r>
              <a:r>
                <a:rPr lang="en-US" sz="2800" baseline="0">
                  <a:solidFill>
                    <a:schemeClr val="bg1">
                      <a:lumMod val="50000"/>
                    </a:schemeClr>
                  </a:solidFill>
                  <a:latin typeface="Calibri" pitchFamily="34" charset="0"/>
                  <a:cs typeface="Calibri" panose="020F0502020204030204" pitchFamily="34" charset="0"/>
                </a:rPr>
                <a:t> tab, then select the </a:t>
              </a:r>
              <a:r>
                <a:rPr lang="en-US" sz="2800" b="1" baseline="0">
                  <a:solidFill>
                    <a:schemeClr val="bg1">
                      <a:lumMod val="50000"/>
                    </a:schemeClr>
                  </a:solidFill>
                  <a:latin typeface="Calibri" pitchFamily="34" charset="0"/>
                  <a:cs typeface="Calibri" panose="020F0502020204030204" pitchFamily="34" charset="0"/>
                </a:rPr>
                <a:t>Colors</a:t>
              </a:r>
              <a:r>
                <a:rPr lang="en-US" sz="2800" baseline="0">
                  <a:solidFill>
                    <a:schemeClr val="bg1">
                      <a:lumMod val="50000"/>
                    </a:schemeClr>
                  </a:solidFill>
                  <a:latin typeface="Calibri" pitchFamily="34" charset="0"/>
                  <a:cs typeface="Calibri" panose="020F0502020204030204" pitchFamily="34" charset="0"/>
                </a:rPr>
                <a:t> drop-down list.</a:t>
              </a: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r>
                <a:rPr lang="en-US" sz="2800" baseline="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222"/>
                </a:spcAft>
              </a:pPr>
              <a:r>
                <a:rPr lang="en-US" sz="440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222"/>
                </a:spcAft>
              </a:pPr>
              <a:r>
                <a:rPr lang="en-US" sz="2800">
                  <a:solidFill>
                    <a:schemeClr val="bg1">
                      <a:lumMod val="50000"/>
                    </a:schemeClr>
                  </a:solidFill>
                  <a:latin typeface="Calibri" pitchFamily="34" charset="0"/>
                  <a:cs typeface="Calibri" panose="020F0502020204030204" pitchFamily="34" charset="0"/>
                </a:rPr>
                <a:t>Once your poster file is ready, visit</a:t>
              </a:r>
              <a:r>
                <a:rPr lang="en-US" sz="2800" baseline="0">
                  <a:solidFill>
                    <a:schemeClr val="bg1">
                      <a:lumMod val="50000"/>
                    </a:schemeClr>
                  </a:solidFill>
                  <a:latin typeface="Calibri" pitchFamily="34" charset="0"/>
                  <a:cs typeface="Calibri" panose="020F0502020204030204" pitchFamily="34" charset="0"/>
                </a:rPr>
                <a:t> </a:t>
              </a:r>
              <a:r>
                <a:rPr lang="en-US" sz="2800" b="1" baseline="0">
                  <a:solidFill>
                    <a:schemeClr val="bg1">
                      <a:lumMod val="50000"/>
                    </a:schemeClr>
                  </a:solidFill>
                  <a:latin typeface="Calibri" pitchFamily="34" charset="0"/>
                  <a:cs typeface="Calibri" panose="020F0502020204030204" pitchFamily="34" charset="0"/>
                </a:rPr>
                <a:t>www.genigraphics.com</a:t>
              </a:r>
              <a:r>
                <a:rPr lang="en-US" sz="2800" baseline="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222"/>
                </a:spcAft>
              </a:pPr>
              <a:r>
                <a:rPr lang="en-US" sz="2800" baseline="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2800" baseline="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2800" baseline="0">
                  <a:solidFill>
                    <a:schemeClr val="bg1">
                      <a:lumMod val="50000"/>
                    </a:schemeClr>
                  </a:solidFill>
                  <a:latin typeface="Calibri" pitchFamily="34" charset="0"/>
                  <a:cs typeface="Calibri" panose="020F0502020204030204" pitchFamily="34" charset="0"/>
                </a:rPr>
                <a:t>US and Canada:  1-800-790-4001</a:t>
              </a:r>
              <a:br>
                <a:rPr lang="en-US" sz="2800" baseline="0">
                  <a:solidFill>
                    <a:schemeClr val="bg1">
                      <a:lumMod val="50000"/>
                    </a:schemeClr>
                  </a:solidFill>
                  <a:latin typeface="Calibri" pitchFamily="34" charset="0"/>
                  <a:cs typeface="Calibri" panose="020F0502020204030204" pitchFamily="34" charset="0"/>
                </a:rPr>
              </a:br>
              <a:r>
                <a:rPr lang="en-US" sz="2800" baseline="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2400">
                  <a:solidFill>
                    <a:schemeClr val="bg1">
                      <a:lumMod val="50000"/>
                    </a:schemeClr>
                  </a:solidFill>
                  <a:latin typeface="Calibri" pitchFamily="34" charset="0"/>
                  <a:cs typeface="Calibri" panose="020F0502020204030204" pitchFamily="34" charset="0"/>
                </a:rPr>
              </a:br>
              <a:r>
                <a:rPr lang="en-US" sz="240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1" y="8882743"/>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508200" y="18973800"/>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5/16/26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768986"/>
            <a:ext cx="29626560" cy="3200400"/>
          </a:xfrm>
          <a:prstGeom prst="rect">
            <a:avLst/>
          </a:prstGeom>
        </p:spPr>
        <p:txBody>
          <a:bodyPr vert="horz" lIns="223286" tIns="111644" rIns="223286" bIns="111644" rtlCol="0" anchor="ctr">
            <a:normAutofit/>
          </a:bodyPr>
          <a:lstStyle/>
          <a:p>
            <a:r>
              <a:rPr lang="en-US"/>
              <a:t>Click to edit Master title style</a:t>
            </a:r>
          </a:p>
        </p:txBody>
      </p:sp>
      <p:sp>
        <p:nvSpPr>
          <p:cNvPr id="3" name="Text Placeholder 2"/>
          <p:cNvSpPr>
            <a:spLocks noGrp="1"/>
          </p:cNvSpPr>
          <p:nvPr>
            <p:ph type="body" idx="1"/>
          </p:nvPr>
        </p:nvSpPr>
        <p:spPr>
          <a:xfrm>
            <a:off x="1645920" y="4480563"/>
            <a:ext cx="29626560" cy="12672697"/>
          </a:xfrm>
          <a:prstGeom prst="rect">
            <a:avLst/>
          </a:prstGeom>
        </p:spPr>
        <p:txBody>
          <a:bodyPr vert="horz" lIns="223286" tIns="111644" rIns="223286" bIns="11164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645920" y="17797782"/>
            <a:ext cx="7680960" cy="1022350"/>
          </a:xfrm>
          <a:prstGeom prst="rect">
            <a:avLst/>
          </a:prstGeom>
        </p:spPr>
        <p:txBody>
          <a:bodyPr vert="horz" lIns="223286" tIns="111644" rIns="223286" bIns="111644" rtlCol="0" anchor="ctr"/>
          <a:lstStyle>
            <a:lvl1pPr algn="l">
              <a:defRPr sz="3100">
                <a:solidFill>
                  <a:schemeClr val="tx1">
                    <a:tint val="75000"/>
                  </a:schemeClr>
                </a:solidFill>
              </a:defRPr>
            </a:lvl1pPr>
          </a:lstStyle>
          <a:p>
            <a:fld id="{985D6BDF-9D0E-4E2B-85B8-D8F4790360C9}" type="datetimeFigureOut">
              <a:rPr lang="en-US" smtClean="0"/>
              <a:t>5/16/26</a:t>
            </a:fld>
            <a:endParaRPr lang="en-US"/>
          </a:p>
        </p:txBody>
      </p:sp>
      <p:sp>
        <p:nvSpPr>
          <p:cNvPr id="5" name="Footer Placeholder 4"/>
          <p:cNvSpPr>
            <a:spLocks noGrp="1"/>
          </p:cNvSpPr>
          <p:nvPr>
            <p:ph type="ftr" sz="quarter" idx="3"/>
          </p:nvPr>
        </p:nvSpPr>
        <p:spPr>
          <a:xfrm>
            <a:off x="11247120" y="17797782"/>
            <a:ext cx="10424160" cy="1022350"/>
          </a:xfrm>
          <a:prstGeom prst="rect">
            <a:avLst/>
          </a:prstGeom>
        </p:spPr>
        <p:txBody>
          <a:bodyPr vert="horz" lIns="223286" tIns="111644" rIns="223286" bIns="111644" rtlCol="0" anchor="ctr"/>
          <a:lstStyle>
            <a:lvl1pPr algn="ctr">
              <a:defRPr sz="31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591520" y="17797782"/>
            <a:ext cx="7680960" cy="1022350"/>
          </a:xfrm>
          <a:prstGeom prst="rect">
            <a:avLst/>
          </a:prstGeom>
        </p:spPr>
        <p:txBody>
          <a:bodyPr vert="horz" lIns="223286" tIns="111644" rIns="223286" bIns="111644" rtlCol="0" anchor="ctr"/>
          <a:lstStyle>
            <a:lvl1pPr algn="r">
              <a:defRPr sz="3100">
                <a:solidFill>
                  <a:schemeClr val="tx1">
                    <a:tint val="75000"/>
                  </a:schemeClr>
                </a:solidFill>
              </a:defRPr>
            </a:lvl1pPr>
          </a:lstStyle>
          <a:p>
            <a:fld id="{FBB075EA-769C-4ECD-B48E-D6FCDC24F876}" type="slidenum">
              <a:rPr lang="en-US" smtClean="0"/>
              <a:t>‹#›</a:t>
            </a:fld>
            <a:endParaRPr lang="en-US"/>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2232860" rtl="0" eaLnBrk="1" latinLnBrk="0" hangingPunct="1">
        <a:spcBef>
          <a:spcPct val="0"/>
        </a:spcBef>
        <a:buNone/>
        <a:defRPr sz="4000" kern="1200">
          <a:solidFill>
            <a:schemeClr val="tx1"/>
          </a:solidFill>
          <a:latin typeface="+mj-lt"/>
          <a:ea typeface="+mj-ea"/>
          <a:cs typeface="+mj-cs"/>
        </a:defRPr>
      </a:lvl1pPr>
    </p:titleStyle>
    <p:bodyStyle>
      <a:lvl1pPr marL="232590"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65178"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697770"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930358"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162949"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614036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6pPr>
      <a:lvl7pPr marL="725679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7pPr>
      <a:lvl8pPr marL="8373227"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8pPr>
      <a:lvl9pPr marL="948965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9pPr>
    </p:bodyStyle>
    <p:otherStyle>
      <a:defPPr>
        <a:defRPr lang="en-US"/>
      </a:defPPr>
      <a:lvl1pPr marL="0" algn="l" defTabSz="2232860" rtl="0" eaLnBrk="1" latinLnBrk="0" hangingPunct="1">
        <a:defRPr sz="4400" kern="1200">
          <a:solidFill>
            <a:schemeClr val="tx1"/>
          </a:solidFill>
          <a:latin typeface="+mn-lt"/>
          <a:ea typeface="+mn-ea"/>
          <a:cs typeface="+mn-cs"/>
        </a:defRPr>
      </a:lvl1pPr>
      <a:lvl2pPr marL="1116431" algn="l" defTabSz="2232860" rtl="0" eaLnBrk="1" latinLnBrk="0" hangingPunct="1">
        <a:defRPr sz="4400" kern="1200">
          <a:solidFill>
            <a:schemeClr val="tx1"/>
          </a:solidFill>
          <a:latin typeface="+mn-lt"/>
          <a:ea typeface="+mn-ea"/>
          <a:cs typeface="+mn-cs"/>
        </a:defRPr>
      </a:lvl2pPr>
      <a:lvl3pPr marL="2232860" algn="l" defTabSz="2232860" rtl="0" eaLnBrk="1" latinLnBrk="0" hangingPunct="1">
        <a:defRPr sz="4400" kern="1200">
          <a:solidFill>
            <a:schemeClr val="tx1"/>
          </a:solidFill>
          <a:latin typeface="+mn-lt"/>
          <a:ea typeface="+mn-ea"/>
          <a:cs typeface="+mn-cs"/>
        </a:defRPr>
      </a:lvl3pPr>
      <a:lvl4pPr marL="3349292" algn="l" defTabSz="2232860" rtl="0" eaLnBrk="1" latinLnBrk="0" hangingPunct="1">
        <a:defRPr sz="4400" kern="1200">
          <a:solidFill>
            <a:schemeClr val="tx1"/>
          </a:solidFill>
          <a:latin typeface="+mn-lt"/>
          <a:ea typeface="+mn-ea"/>
          <a:cs typeface="+mn-cs"/>
        </a:defRPr>
      </a:lvl4pPr>
      <a:lvl5pPr marL="4465721" algn="l" defTabSz="2232860" rtl="0" eaLnBrk="1" latinLnBrk="0" hangingPunct="1">
        <a:defRPr sz="4400" kern="1200">
          <a:solidFill>
            <a:schemeClr val="tx1"/>
          </a:solidFill>
          <a:latin typeface="+mn-lt"/>
          <a:ea typeface="+mn-ea"/>
          <a:cs typeface="+mn-cs"/>
        </a:defRPr>
      </a:lvl5pPr>
      <a:lvl6pPr marL="5582151" algn="l" defTabSz="2232860" rtl="0" eaLnBrk="1" latinLnBrk="0" hangingPunct="1">
        <a:defRPr sz="4400" kern="1200">
          <a:solidFill>
            <a:schemeClr val="tx1"/>
          </a:solidFill>
          <a:latin typeface="+mn-lt"/>
          <a:ea typeface="+mn-ea"/>
          <a:cs typeface="+mn-cs"/>
        </a:defRPr>
      </a:lvl6pPr>
      <a:lvl7pPr marL="6698580" algn="l" defTabSz="2232860" rtl="0" eaLnBrk="1" latinLnBrk="0" hangingPunct="1">
        <a:defRPr sz="4400" kern="1200">
          <a:solidFill>
            <a:schemeClr val="tx1"/>
          </a:solidFill>
          <a:latin typeface="+mn-lt"/>
          <a:ea typeface="+mn-ea"/>
          <a:cs typeface="+mn-cs"/>
        </a:defRPr>
      </a:lvl7pPr>
      <a:lvl8pPr marL="7815011" algn="l" defTabSz="2232860" rtl="0" eaLnBrk="1" latinLnBrk="0" hangingPunct="1">
        <a:defRPr sz="4400" kern="1200">
          <a:solidFill>
            <a:schemeClr val="tx1"/>
          </a:solidFill>
          <a:latin typeface="+mn-lt"/>
          <a:ea typeface="+mn-ea"/>
          <a:cs typeface="+mn-cs"/>
        </a:defRPr>
      </a:lvl8pPr>
      <a:lvl9pPr marL="8931443" algn="l" defTabSz="2232860" rtl="0" eaLnBrk="1" latinLnBrk="0" hangingPunct="1">
        <a:defRPr sz="4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aguaclara.github.io/Textbook/Clarification/Clarifier_Intro.html" TargetMode="External"/><Relationship Id="rId13" Type="http://schemas.openxmlformats.org/officeDocument/2006/relationships/image" Target="../media/image7.png"/><Relationship Id="rId18" Type="http://schemas.openxmlformats.org/officeDocument/2006/relationships/image" Target="../media/image12.png"/><Relationship Id="rId3" Type="http://schemas.microsoft.com/office/2018/10/relationships/comments" Target="../comments/modernComment_100_862F6096.xml"/><Relationship Id="rId21" Type="http://schemas.openxmlformats.org/officeDocument/2006/relationships/image" Target="../media/image15.png"/><Relationship Id="rId7" Type="http://schemas.openxmlformats.org/officeDocument/2006/relationships/hyperlink" Target="https://aguaclara.github.io/Textbook/Flocculation/Floc_Model.html" TargetMode="External"/><Relationship Id="rId12" Type="http://schemas.openxmlformats.org/officeDocument/2006/relationships/image" Target="../media/image6.png"/><Relationship Id="rId17" Type="http://schemas.openxmlformats.org/officeDocument/2006/relationships/image" Target="../media/image11.png"/><Relationship Id="rId2" Type="http://schemas.openxmlformats.org/officeDocument/2006/relationships/notesSlide" Target="../notesSlides/notesSlide1.xml"/><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hyperlink" Target="http://aguaclara.cornell.edu/" TargetMode="External"/><Relationship Id="rId11" Type="http://schemas.openxmlformats.org/officeDocument/2006/relationships/image" Target="../media/image5.png"/><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7.png"/><Relationship Id="rId10" Type="http://schemas.openxmlformats.org/officeDocument/2006/relationships/hyperlink" Target="https://doi.org/10.1089/ees.2018.0405" TargetMode="External"/><Relationship Id="rId19"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hyperlink" Target="https://aguaclara.github.io/Textbook/Operation/Coagulant_Automation.html" TargetMode="External"/><Relationship Id="rId14" Type="http://schemas.openxmlformats.org/officeDocument/2006/relationships/image" Target="../media/image8.svg"/><Relationship Id="rId2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AFA8E01-09CE-E5A5-2102-3A4F7A0B9C0A}"/>
              </a:ext>
            </a:extLst>
          </p:cNvPr>
          <p:cNvSpPr/>
          <p:nvPr/>
        </p:nvSpPr>
        <p:spPr>
          <a:xfrm>
            <a:off x="-21775" y="16750049"/>
            <a:ext cx="32961948" cy="2490698"/>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17695840" y="16924399"/>
            <a:ext cx="1787100" cy="493250"/>
          </a:xfrm>
          <a:prstGeom prst="rect">
            <a:avLst/>
          </a:prstGeom>
          <a:noFill/>
        </p:spPr>
        <p:txBody>
          <a:bodyPr wrap="none" lIns="46518" tIns="23260" rIns="46518" bIns="23260" rtlCol="0">
            <a:spAutoFit/>
          </a:bodyPr>
          <a:lstStyle/>
          <a:p>
            <a:r>
              <a:rPr lang="en-US" sz="2800" b="1">
                <a:solidFill>
                  <a:schemeClr val="bg1"/>
                </a:solidFill>
              </a:rPr>
              <a:t>References</a:t>
            </a:r>
          </a:p>
        </p:txBody>
      </p:sp>
      <p:sp>
        <p:nvSpPr>
          <p:cNvPr id="10" name="Text Box 189"/>
          <p:cNvSpPr txBox="1">
            <a:spLocks noChangeArrowheads="1"/>
          </p:cNvSpPr>
          <p:nvPr/>
        </p:nvSpPr>
        <p:spPr bwMode="auto">
          <a:xfrm>
            <a:off x="1059298" y="3253171"/>
            <a:ext cx="7315200" cy="6986700"/>
          </a:xfrm>
          <a:prstGeom prst="rect">
            <a:avLst/>
          </a:prstGeom>
          <a:solidFill>
            <a:schemeClr val="bg1"/>
          </a:solidFill>
          <a:ln w="12700">
            <a:solidFill>
              <a:schemeClr val="accent1">
                <a:lumMod val="75000"/>
              </a:schemeClr>
            </a:solidFill>
          </a:ln>
          <a:effectLst/>
        </p:spPr>
        <p:txBody>
          <a:bodyPr lIns="130302" tIns="130302" rIns="130302" bIns="130302" anchor="t">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en-US" sz="2400">
                <a:latin typeface="Arial"/>
                <a:ea typeface="Calibri"/>
                <a:cs typeface="Arial"/>
              </a:rPr>
              <a:t> </a:t>
            </a:r>
            <a:r>
              <a:rPr lang="en-US" sz="2400">
                <a:latin typeface="Arial"/>
                <a:cs typeface="Arial"/>
              </a:rPr>
              <a:t>Coagulant dosing in the </a:t>
            </a:r>
            <a:r>
              <a:rPr lang="en-US" sz="2400" err="1">
                <a:latin typeface="Arial"/>
                <a:cs typeface="Arial"/>
              </a:rPr>
              <a:t>AguaClara</a:t>
            </a:r>
            <a:r>
              <a:rPr lang="en-US" sz="2400">
                <a:latin typeface="Arial"/>
                <a:cs typeface="Arial"/>
              </a:rPr>
              <a:t> water treatment process involves adding a specific amount of coagulant to influent water to remove pollutants, enhance floc formation, and neutralize water. For communities that cannot afford full-time operators, it is beneficial to create a fully automated coagulant dosing system.</a:t>
            </a: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endParaRPr lang="en-US" sz="2400">
              <a:latin typeface="Arial"/>
              <a:ea typeface="Calibri"/>
              <a:cs typeface="Arial"/>
            </a:endParaRPr>
          </a:p>
          <a:p>
            <a:pPr algn="ctr"/>
            <a:endParaRPr lang="en-US" sz="1200">
              <a:latin typeface="Arial"/>
              <a:ea typeface="Calibri"/>
              <a:cs typeface="Arial"/>
            </a:endParaRPr>
          </a:p>
          <a:p>
            <a:pPr algn="ctr"/>
            <a:r>
              <a:rPr lang="en-US" sz="2400">
                <a:latin typeface="Arial"/>
                <a:ea typeface="Calibri"/>
                <a:cs typeface="Arial"/>
              </a:rPr>
              <a:t>Figure 1. Primary particle journey through the clarifier</a:t>
            </a:r>
          </a:p>
          <a:p>
            <a:endParaRPr lang="en-US" sz="2400">
              <a:latin typeface="Arial"/>
              <a:ea typeface="Calibri"/>
              <a:cs typeface="Arial"/>
            </a:endParaRPr>
          </a:p>
          <a:p>
            <a:endParaRPr lang="en-US" sz="2400">
              <a:latin typeface="Arial"/>
              <a:ea typeface="Calibri"/>
              <a:cs typeface="Arial"/>
            </a:endParaRPr>
          </a:p>
          <a:p>
            <a:r>
              <a:rPr lang="en-US" sz="2400">
                <a:latin typeface="Arial"/>
                <a:ea typeface="Calibri"/>
                <a:cs typeface="Arial"/>
              </a:rPr>
              <a:t> </a:t>
            </a:r>
            <a:endParaRPr lang="en-US" sz="2400">
              <a:latin typeface="Arial"/>
              <a:cs typeface="Arial"/>
            </a:endParaRPr>
          </a:p>
        </p:txBody>
      </p:sp>
      <p:sp>
        <p:nvSpPr>
          <p:cNvPr id="32" name="Rectangle 31"/>
          <p:cNvSpPr/>
          <p:nvPr/>
        </p:nvSpPr>
        <p:spPr>
          <a:xfrm>
            <a:off x="1053388" y="2800350"/>
            <a:ext cx="7315200" cy="456963"/>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Abstract</a:t>
            </a:r>
          </a:p>
        </p:txBody>
      </p:sp>
      <mc:AlternateContent xmlns:mc="http://schemas.openxmlformats.org/markup-compatibility/2006" xmlns:a14="http://schemas.microsoft.com/office/drawing/2010/main">
        <mc:Choice Requires="a14">
          <p:sp>
            <p:nvSpPr>
              <p:cNvPr id="15" name="Text Box 194"/>
              <p:cNvSpPr txBox="1">
                <a:spLocks noChangeArrowheads="1"/>
              </p:cNvSpPr>
              <p:nvPr/>
            </p:nvSpPr>
            <p:spPr bwMode="auto">
              <a:xfrm>
                <a:off x="16724877" y="3247491"/>
                <a:ext cx="7315200" cy="13245348"/>
              </a:xfrm>
              <a:prstGeom prst="rect">
                <a:avLst/>
              </a:prstGeom>
              <a:solidFill>
                <a:schemeClr val="bg1"/>
              </a:solidFill>
              <a:ln w="12700">
                <a:solidFill>
                  <a:schemeClr val="accent1">
                    <a:lumMod val="75000"/>
                  </a:schemeClr>
                </a:solidFill>
              </a:ln>
              <a:effectLst/>
            </p:spPr>
            <p:txBody>
              <a:bodyPr lIns="130302" tIns="130302" rIns="130302" bIns="130302">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400" b="1">
                    <a:latin typeface="Arial" panose="020B0604020202020204" pitchFamily="34" charset="0"/>
                    <a:ea typeface="Calibri"/>
                    <a:cs typeface="Arial" panose="020B0604020202020204" pitchFamily="34" charset="0"/>
                  </a:rPr>
                  <a:t>Model - Key Takeaways:</a:t>
                </a:r>
              </a:p>
              <a:p>
                <a:pPr eaLnBrk="1" hangingPunct="1"/>
                <a:r>
                  <a:rPr lang="en-US" sz="2400">
                    <a:latin typeface="Arial" panose="020B0604020202020204" pitchFamily="34" charset="0"/>
                    <a:ea typeface="Calibri"/>
                    <a:cs typeface="Arial" panose="020B0604020202020204" pitchFamily="34" charset="0"/>
                  </a:rPr>
                  <a:t> Model accurately predicts that coagulant dosing concentration plateaus as raw turbidity increases (Figure 3), which aligns with observations from plant operators.</a:t>
                </a: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8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r>
                  <a:rPr lang="en-US" sz="2400">
                    <a:latin typeface="Arial" panose="020B0604020202020204" pitchFamily="34" charset="0"/>
                    <a:ea typeface="Calibri"/>
                    <a:cs typeface="Arial" panose="020B0604020202020204" pitchFamily="34" charset="0"/>
                  </a:rPr>
                  <a:t> DOM and raw turbidity data were observed to have a strong positive relationship (Figure 4), suggesting they are not independent variables. This could be due to UV254 measuring inorganic particles as well as DOM. As a result of this non-orthogonality, the fitting inaccurately determined a negative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r>
                      <a:rPr lang="en-US" sz="2400" b="0" i="0" smtClean="0">
                        <a:latin typeface="Cambria Math" panose="02040503050406030204" pitchFamily="18" charset="0"/>
                        <a:ea typeface="Cambria Math" panose="02040503050406030204" pitchFamily="18" charset="0"/>
                      </a:rPr>
                      <m:t>=−107.6578</m:t>
                    </m:r>
                  </m:oMath>
                </a14:m>
                <a:r>
                  <a:rPr lang="en-US" sz="2400">
                    <a:latin typeface="Arial" panose="020B0604020202020204" pitchFamily="34" charset="0"/>
                    <a:ea typeface="Calibri"/>
                    <a:cs typeface="Arial" panose="020B0604020202020204" pitchFamily="34" charset="0"/>
                  </a:rPr>
                  <a:t>.</a:t>
                </a:r>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p:txBody>
          </p:sp>
        </mc:Choice>
        <mc:Fallback xmlns="">
          <p:sp>
            <p:nvSpPr>
              <p:cNvPr id="15" name="Text Box 194"/>
              <p:cNvSpPr txBox="1">
                <a:spLocks noRot="1" noChangeAspect="1" noMove="1" noResize="1" noEditPoints="1" noAdjustHandles="1" noChangeArrowheads="1" noChangeShapeType="1" noTextEdit="1"/>
              </p:cNvSpPr>
              <p:nvPr/>
            </p:nvSpPr>
            <p:spPr bwMode="auto">
              <a:xfrm>
                <a:off x="16724877" y="3247491"/>
                <a:ext cx="7315200" cy="13245348"/>
              </a:xfrm>
              <a:prstGeom prst="rect">
                <a:avLst/>
              </a:prstGeom>
              <a:blipFill>
                <a:blip r:embed="rId4"/>
                <a:stretch>
                  <a:fillRect l="-749" r="-1498"/>
                </a:stretch>
              </a:blipFill>
              <a:ln w="12700">
                <a:solidFill>
                  <a:schemeClr val="accent1">
                    <a:lumMod val="75000"/>
                  </a:schemeClr>
                </a:solidFill>
              </a:ln>
              <a:effectLst/>
            </p:spPr>
            <p:txBody>
              <a:bodyPr/>
              <a:lstStyle/>
              <a:p>
                <a:r>
                  <a:rPr lang="en-US">
                    <a:noFill/>
                  </a:rPr>
                  <a:t> </a:t>
                </a:r>
              </a:p>
            </p:txBody>
          </p:sp>
        </mc:Fallback>
      </mc:AlternateContent>
      <p:sp>
        <p:nvSpPr>
          <p:cNvPr id="33" name="Rectangle 32"/>
          <p:cNvSpPr/>
          <p:nvPr/>
        </p:nvSpPr>
        <p:spPr>
          <a:xfrm>
            <a:off x="1054010" y="10413444"/>
            <a:ext cx="7319239" cy="453365"/>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Introduction</a:t>
            </a:r>
          </a:p>
        </p:txBody>
      </p:sp>
      <mc:AlternateContent xmlns:mc="http://schemas.openxmlformats.org/markup-compatibility/2006" xmlns:a14="http://schemas.microsoft.com/office/drawing/2010/main">
        <mc:Choice Requires="a14">
          <p:sp>
            <p:nvSpPr>
              <p:cNvPr id="13" name="Text Box 192"/>
              <p:cNvSpPr txBox="1">
                <a:spLocks noChangeArrowheads="1"/>
              </p:cNvSpPr>
              <p:nvPr/>
            </p:nvSpPr>
            <p:spPr bwMode="auto">
              <a:xfrm>
                <a:off x="8883994" y="3248626"/>
                <a:ext cx="7315200" cy="13244211"/>
              </a:xfrm>
              <a:prstGeom prst="rect">
                <a:avLst/>
              </a:prstGeom>
              <a:solidFill>
                <a:schemeClr val="bg1"/>
              </a:solidFill>
              <a:ln w="12700">
                <a:solidFill>
                  <a:schemeClr val="accent1">
                    <a:lumMod val="75000"/>
                  </a:schemeClr>
                </a:solidFill>
              </a:ln>
              <a:effectLst/>
            </p:spPr>
            <p:txBody>
              <a:bodyPr lIns="130302" tIns="130302" rIns="130302" bIns="130302" anchor="t">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400">
                    <a:latin typeface="Arial" panose="020B0604020202020204" pitchFamily="34" charset="0"/>
                    <a:ea typeface="Calibri"/>
                    <a:cs typeface="Arial" panose="020B0604020202020204" pitchFamily="34" charset="0"/>
                  </a:rPr>
                  <a:t> Following similar methods to the derivation of the current flocculation equation, the team derived an equation describing the change in primary particle concentration vs time (</a:t>
                </a:r>
                <a14:m>
                  <m:oMath xmlns:m="http://schemas.openxmlformats.org/officeDocument/2006/math">
                    <m:f>
                      <m:fPr>
                        <m:ctrlPr>
                          <a:rPr lang="en-US" sz="2400" i="1" smtClean="0">
                            <a:latin typeface="Cambria Math" panose="02040503050406030204" pitchFamily="18" charset="0"/>
                            <a:ea typeface="Calibri"/>
                            <a:cs typeface="Calibri"/>
                          </a:rPr>
                        </m:ctrlPr>
                      </m:fPr>
                      <m:num>
                        <m:r>
                          <a:rPr lang="en-US" sz="2400" b="0" i="1" smtClean="0">
                            <a:latin typeface="Cambria Math" panose="02040503050406030204" pitchFamily="18" charset="0"/>
                            <a:ea typeface="Calibri"/>
                            <a:cs typeface="Calibri"/>
                          </a:rPr>
                          <m:t>𝑑</m:t>
                        </m:r>
                        <m:sSub>
                          <m:sSubPr>
                            <m:ctrlPr>
                              <a:rPr lang="en-US" sz="2400" b="0" i="1" smtClean="0">
                                <a:latin typeface="Cambria Math" panose="02040503050406030204" pitchFamily="18" charset="0"/>
                                <a:ea typeface="Calibri"/>
                                <a:cs typeface="Calibri"/>
                              </a:rPr>
                            </m:ctrlPr>
                          </m:sSubPr>
                          <m:e>
                            <m:r>
                              <a:rPr lang="en-US" sz="2400" b="0" i="1" smtClean="0">
                                <a:latin typeface="Cambria Math" panose="02040503050406030204" pitchFamily="18" charset="0"/>
                                <a:ea typeface="Calibri"/>
                                <a:cs typeface="Calibri"/>
                              </a:rPr>
                              <m:t>𝐶</m:t>
                            </m:r>
                          </m:e>
                          <m:sub>
                            <m:r>
                              <a:rPr lang="en-US" sz="2400" b="0" i="1" smtClean="0">
                                <a:latin typeface="Cambria Math" panose="02040503050406030204" pitchFamily="18" charset="0"/>
                                <a:ea typeface="Calibri"/>
                                <a:cs typeface="Calibri"/>
                              </a:rPr>
                              <m:t>𝑃</m:t>
                            </m:r>
                          </m:sub>
                        </m:sSub>
                      </m:num>
                      <m:den>
                        <m:r>
                          <a:rPr lang="en-US" sz="2400" b="0" i="1" smtClean="0">
                            <a:latin typeface="Cambria Math" panose="02040503050406030204" pitchFamily="18" charset="0"/>
                            <a:ea typeface="Calibri"/>
                            <a:cs typeface="Calibri"/>
                          </a:rPr>
                          <m:t>𝑑𝑡</m:t>
                        </m:r>
                      </m:den>
                    </m:f>
                  </m:oMath>
                </a14:m>
                <a:r>
                  <a:rPr lang="en-US" sz="2400">
                    <a:latin typeface="Arial" panose="020B0604020202020204" pitchFamily="34" charset="0"/>
                    <a:ea typeface="Calibri"/>
                    <a:cs typeface="Arial" panose="020B0604020202020204" pitchFamily="34" charset="0"/>
                  </a:rPr>
                  <a:t>). By integrating this differential equation through the residence time of the clarifier, the team has produced an equation to predict the change in primary particle concentration in the clarifier due to floc sweeping.</a:t>
                </a: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r>
                  <a:rPr lang="en-US" sz="2400">
                    <a:latin typeface="Arial" panose="020B0604020202020204" pitchFamily="34" charset="0"/>
                    <a:ea typeface="Calibri"/>
                    <a:cs typeface="Arial" panose="020B0604020202020204" pitchFamily="34" charset="0"/>
                  </a:rPr>
                  <a:t> </a:t>
                </a:r>
                <a:r>
                  <a:rPr lang="en-US" sz="2400">
                    <a:latin typeface="Arial" panose="020B0604020202020204" pitchFamily="34" charset="0"/>
                    <a:cs typeface="Arial" panose="020B0604020202020204" pitchFamily="34" charset="0"/>
                  </a:rPr>
                  <a:t>Combining the existing flocculation model with our new clarification model results in the following equations:</a:t>
                </a: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endParaRPr lang="en-US" sz="2400">
                  <a:latin typeface="Arial" panose="020B0604020202020204" pitchFamily="34" charset="0"/>
                  <a:ea typeface="Calibri"/>
                  <a:cs typeface="Arial" panose="020B0604020202020204" pitchFamily="34" charset="0"/>
                </a:endParaRPr>
              </a:p>
              <a:p>
                <a:pPr eaLnBrk="1" hangingPunct="1"/>
                <a:r>
                  <a:rPr lang="en-US" sz="2400">
                    <a:latin typeface="Arial" panose="020B0604020202020204" pitchFamily="34" charset="0"/>
                    <a:ea typeface="Calibri"/>
                    <a:cs typeface="Arial" panose="020B0604020202020204" pitchFamily="34" charset="0"/>
                  </a:rPr>
                  <a:t> When fit to the Cornell Water Filtration Plant (CWFP) coagulant and turbidity data, this model produces values for the two unknown coefficients </a:t>
                </a:r>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𝑘</m:t>
                        </m:r>
                      </m:e>
                      <m:sub>
                        <m:r>
                          <a:rPr lang="en-US" sz="2400" b="0" i="1" smtClean="0">
                            <a:latin typeface="Cambria Math" panose="02040503050406030204" pitchFamily="18" charset="0"/>
                            <a:cs typeface="Arial" panose="020B0604020202020204" pitchFamily="34" charset="0"/>
                          </a:rPr>
                          <m:t>𝑝𝑓</m:t>
                        </m:r>
                      </m:sub>
                    </m:sSub>
                  </m:oMath>
                </a14:m>
                <a:r>
                  <a:rPr lang="en-US" sz="2400">
                    <a:latin typeface="Arial" panose="020B0604020202020204" pitchFamily="34" charset="0"/>
                    <a:ea typeface="Calibri"/>
                    <a:cs typeface="Arial" panose="020B0604020202020204" pitchFamily="34" charset="0"/>
                  </a:rPr>
                  <a:t> and </a:t>
                </a:r>
                <a14:m>
                  <m:oMath xmlns:m="http://schemas.openxmlformats.org/officeDocument/2006/math">
                    <m:r>
                      <a:rPr lang="en-US" sz="2400" i="1" smtClean="0">
                        <a:latin typeface="Cambria Math" panose="02040503050406030204" pitchFamily="18" charset="0"/>
                        <a:ea typeface="Cambria Math" panose="02040503050406030204" pitchFamily="18" charset="0"/>
                        <a:cs typeface="Arial" panose="020B0604020202020204" pitchFamily="34" charset="0"/>
                      </a:rPr>
                      <m:t>𝛾</m:t>
                    </m:r>
                  </m:oMath>
                </a14:m>
                <a:r>
                  <a:rPr lang="en-US" sz="2400">
                    <a:latin typeface="Arial" panose="020B0604020202020204" pitchFamily="34" charset="0"/>
                    <a:ea typeface="Calibri"/>
                    <a:cs typeface="Arial" panose="020B0604020202020204" pitchFamily="34" charset="0"/>
                  </a:rPr>
                  <a:t>.</a:t>
                </a:r>
              </a:p>
              <a:p>
                <a:pPr algn="ctr" eaLnBrk="1" hangingPunct="1"/>
                <a:endParaRPr lang="en-US" sz="1800" i="1">
                  <a:latin typeface="Cambria Math" panose="02040503050406030204" pitchFamily="18" charset="0"/>
                  <a:cs typeface="Arial" panose="020B0604020202020204" pitchFamily="34" charset="0"/>
                </a:endParaRPr>
              </a:p>
              <a:p>
                <a:pPr algn="ctr" eaLnBrk="1" hangingPunct="1"/>
                <a14:m>
                  <m:oMath xmlns:m="http://schemas.openxmlformats.org/officeDocument/2006/math">
                    <m:sSub>
                      <m:sSubPr>
                        <m:ctrlPr>
                          <a:rPr lang="en-US" sz="240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𝑘</m:t>
                        </m:r>
                      </m:e>
                      <m:sub>
                        <m:r>
                          <a:rPr lang="en-US" sz="2400" b="0" i="1" smtClean="0">
                            <a:latin typeface="Cambria Math" panose="02040503050406030204" pitchFamily="18" charset="0"/>
                            <a:cs typeface="Arial" panose="020B0604020202020204" pitchFamily="34" charset="0"/>
                          </a:rPr>
                          <m:t>𝑝𝑓</m:t>
                        </m:r>
                      </m:sub>
                    </m:sSub>
                    <m:r>
                      <a:rPr lang="en-US" sz="2400" b="0" i="1" smtClean="0">
                        <a:latin typeface="Cambria Math" panose="02040503050406030204" pitchFamily="18" charset="0"/>
                        <a:cs typeface="Arial" panose="020B0604020202020204" pitchFamily="34" charset="0"/>
                      </a:rPr>
                      <m:t>=3.888</m:t>
                    </m:r>
                  </m:oMath>
                </a14:m>
                <a:r>
                  <a:rPr lang="en-US" sz="2400">
                    <a:latin typeface="Arial" panose="020B0604020202020204" pitchFamily="34" charset="0"/>
                    <a:ea typeface="Calibri"/>
                    <a:cs typeface="Arial" panose="020B0604020202020204" pitchFamily="34" charset="0"/>
                  </a:rPr>
                  <a:t>	</a:t>
                </a:r>
                <a:r>
                  <a:rPr lang="en-US" sz="2400">
                    <a:ea typeface="Cambria Math" panose="02040503050406030204" pitchFamily="18" charset="0"/>
                    <a:cs typeface="Arial" panose="020B060402020202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cs typeface="Arial" panose="020B0604020202020204" pitchFamily="34" charset="0"/>
                      </a:rPr>
                      <m:t>𝛾</m:t>
                    </m:r>
                    <m:r>
                      <a:rPr lang="en-US" sz="2400" b="0" i="1" smtClean="0">
                        <a:latin typeface="Cambria Math" panose="02040503050406030204" pitchFamily="18" charset="0"/>
                        <a:ea typeface="Cambria Math" panose="02040503050406030204" pitchFamily="18" charset="0"/>
                        <a:cs typeface="Arial" panose="020B0604020202020204" pitchFamily="34" charset="0"/>
                      </a:rPr>
                      <m:t>=0.06464</m:t>
                    </m:r>
                  </m:oMath>
                </a14:m>
                <a:endParaRPr lang="en-US" sz="2400">
                  <a:latin typeface="Arial" panose="020B0604020202020204" pitchFamily="34" charset="0"/>
                  <a:ea typeface="Calibri"/>
                  <a:cs typeface="Arial" panose="020B0604020202020204" pitchFamily="34" charset="0"/>
                </a:endParaRPr>
              </a:p>
            </p:txBody>
          </p:sp>
        </mc:Choice>
        <mc:Fallback xmlns="">
          <p:sp>
            <p:nvSpPr>
              <p:cNvPr id="13" name="Text Box 192"/>
              <p:cNvSpPr txBox="1">
                <a:spLocks noRot="1" noChangeAspect="1" noMove="1" noResize="1" noEditPoints="1" noAdjustHandles="1" noChangeArrowheads="1" noChangeShapeType="1" noTextEdit="1"/>
              </p:cNvSpPr>
              <p:nvPr/>
            </p:nvSpPr>
            <p:spPr bwMode="auto">
              <a:xfrm>
                <a:off x="8883994" y="3248626"/>
                <a:ext cx="7315200" cy="13244211"/>
              </a:xfrm>
              <a:prstGeom prst="rect">
                <a:avLst/>
              </a:prstGeom>
              <a:blipFill>
                <a:blip r:embed="rId5"/>
                <a:stretch>
                  <a:fillRect l="-666"/>
                </a:stretch>
              </a:blipFill>
              <a:ln w="12700">
                <a:solidFill>
                  <a:schemeClr val="accent1">
                    <a:lumMod val="75000"/>
                  </a:schemeClr>
                </a:solidFill>
              </a:ln>
              <a:effectLst/>
            </p:spPr>
            <p:txBody>
              <a:bodyPr/>
              <a:lstStyle/>
              <a:p>
                <a:r>
                  <a:rPr lang="en-US">
                    <a:noFill/>
                  </a:rPr>
                  <a:t> </a:t>
                </a:r>
              </a:p>
            </p:txBody>
          </p:sp>
        </mc:Fallback>
      </mc:AlternateContent>
      <p:sp>
        <p:nvSpPr>
          <p:cNvPr id="34" name="Rectangle 33"/>
          <p:cNvSpPr/>
          <p:nvPr/>
        </p:nvSpPr>
        <p:spPr>
          <a:xfrm>
            <a:off x="8882524" y="2800350"/>
            <a:ext cx="7316830" cy="452331"/>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Methods</a:t>
            </a:r>
          </a:p>
        </p:txBody>
      </p:sp>
      <p:sp>
        <p:nvSpPr>
          <p:cNvPr id="12" name="Text Box 191"/>
          <p:cNvSpPr txBox="1">
            <a:spLocks noChangeArrowheads="1"/>
          </p:cNvSpPr>
          <p:nvPr/>
        </p:nvSpPr>
        <p:spPr bwMode="auto">
          <a:xfrm>
            <a:off x="24549181" y="3258120"/>
            <a:ext cx="7315200" cy="8792574"/>
          </a:xfrm>
          <a:prstGeom prst="rect">
            <a:avLst/>
          </a:prstGeom>
          <a:solidFill>
            <a:schemeClr val="bg1"/>
          </a:solidFill>
          <a:ln w="12700">
            <a:solidFill>
              <a:schemeClr val="accent1">
                <a:lumMod val="75000"/>
              </a:schemeClr>
            </a:solidFill>
          </a:ln>
          <a:effectLst/>
        </p:spPr>
        <p:txBody>
          <a:bodyPr lIns="130302" tIns="130302" rIns="130302" bIns="130302" anchor="t">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br>
              <a:rPr lang="en-US" sz="2500">
                <a:effectLst/>
                <a:latin typeface="Helvetica Neue" panose="02000503000000020004" pitchFamily="2" charset="0"/>
              </a:rPr>
            </a:br>
            <a:endParaRPr lang="en-US" sz="2500">
              <a:effectLst/>
              <a:latin typeface="Helvetica Neue" panose="02000503000000020004" pitchFamily="2" charset="0"/>
            </a:endParaRPr>
          </a:p>
          <a:p>
            <a:endParaRPr lang="en-US" sz="2500">
              <a:latin typeface="Helvetica Neue" panose="02000503000000020004" pitchFamily="2" charset="0"/>
            </a:endParaRPr>
          </a:p>
          <a:p>
            <a:endParaRPr lang="en-US" sz="2500">
              <a:effectLst/>
              <a:latin typeface="Helvetica Neue" panose="02000503000000020004" pitchFamily="2" charset="0"/>
            </a:endParaRPr>
          </a:p>
          <a:p>
            <a:endParaRPr lang="en-US" sz="2500">
              <a:effectLst/>
              <a:latin typeface="Helvetica Neue" panose="02000503000000020004" pitchFamily="2" charset="0"/>
            </a:endParaRPr>
          </a:p>
          <a:p>
            <a:endParaRPr lang="en-US" sz="2300">
              <a:effectLst/>
              <a:latin typeface="Helvetica Neue" panose="02000503000000020004" pitchFamily="2" charset="0"/>
            </a:endParaRPr>
          </a:p>
          <a:p>
            <a:endParaRPr lang="en-US" sz="2500">
              <a:effectLst/>
              <a:latin typeface="Helvetica Neue" panose="02000503000000020004" pitchFamily="2" charset="0"/>
            </a:endParaRPr>
          </a:p>
        </p:txBody>
      </p:sp>
      <p:sp>
        <p:nvSpPr>
          <p:cNvPr id="35" name="Rectangle 34"/>
          <p:cNvSpPr/>
          <p:nvPr/>
        </p:nvSpPr>
        <p:spPr>
          <a:xfrm>
            <a:off x="24549181" y="2800350"/>
            <a:ext cx="7311072" cy="457770"/>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Results/Discussion II</a:t>
            </a:r>
          </a:p>
        </p:txBody>
      </p:sp>
      <p:sp>
        <p:nvSpPr>
          <p:cNvPr id="14" name="Text Box 193"/>
          <p:cNvSpPr txBox="1">
            <a:spLocks noChangeArrowheads="1"/>
          </p:cNvSpPr>
          <p:nvPr/>
        </p:nvSpPr>
        <p:spPr bwMode="auto">
          <a:xfrm>
            <a:off x="24545053" y="12866023"/>
            <a:ext cx="7315200" cy="3626818"/>
          </a:xfrm>
          <a:prstGeom prst="rect">
            <a:avLst/>
          </a:prstGeom>
          <a:solidFill>
            <a:schemeClr val="bg1"/>
          </a:solidFill>
          <a:ln w="12700">
            <a:solidFill>
              <a:schemeClr val="accent1">
                <a:lumMod val="75000"/>
              </a:schemeClr>
            </a:solidFill>
          </a:ln>
          <a:effectLst/>
        </p:spPr>
        <p:txBody>
          <a:bodyPr lIns="130302" tIns="130302" rIns="130302" bIns="130302" anchor="t">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42900" indent="-342900">
              <a:spcAft>
                <a:spcPts val="1200"/>
              </a:spcAft>
              <a:buFont typeface="Arial"/>
              <a:buChar char="•"/>
            </a:pPr>
            <a:r>
              <a:rPr lang="en-US" sz="2400">
                <a:latin typeface="Arial"/>
                <a:ea typeface="Helvetica Neue"/>
                <a:cs typeface="Arial"/>
              </a:rPr>
              <a:t>We will run </a:t>
            </a:r>
            <a:r>
              <a:rPr lang="en-US" sz="2400" err="1">
                <a:latin typeface="Arial"/>
                <a:ea typeface="Helvetica Neue"/>
                <a:cs typeface="Arial"/>
              </a:rPr>
              <a:t>Plantita</a:t>
            </a:r>
            <a:r>
              <a:rPr lang="en-US" sz="2400">
                <a:latin typeface="Arial"/>
                <a:ea typeface="Helvetica Neue"/>
                <a:cs typeface="Arial"/>
              </a:rPr>
              <a:t> and collect data using </a:t>
            </a:r>
            <a:r>
              <a:rPr lang="en-US" sz="2400" err="1">
                <a:latin typeface="Arial"/>
                <a:ea typeface="Helvetica Neue"/>
                <a:cs typeface="Arial"/>
              </a:rPr>
              <a:t>ProCoDA</a:t>
            </a:r>
            <a:r>
              <a:rPr lang="en-US" sz="2400">
                <a:latin typeface="Arial"/>
                <a:ea typeface="Helvetica Neue"/>
                <a:cs typeface="Arial"/>
              </a:rPr>
              <a:t>. </a:t>
            </a:r>
          </a:p>
          <a:p>
            <a:pPr marL="342900" indent="-342900">
              <a:spcAft>
                <a:spcPts val="1200"/>
              </a:spcAft>
              <a:buFont typeface="Arial"/>
              <a:buChar char="•"/>
            </a:pPr>
            <a:r>
              <a:rPr lang="en-US" sz="2400">
                <a:latin typeface="Arial"/>
                <a:ea typeface="Helvetica Neue"/>
                <a:cs typeface="Arial"/>
              </a:rPr>
              <a:t>We will monitor behavior during various turbidity events.</a:t>
            </a:r>
          </a:p>
          <a:p>
            <a:pPr marL="342900" indent="-342900">
              <a:spcAft>
                <a:spcPts val="1200"/>
              </a:spcAft>
              <a:buFont typeface="Arial"/>
              <a:buChar char="•"/>
            </a:pPr>
            <a:r>
              <a:rPr lang="en-US" sz="2400">
                <a:latin typeface="Arial"/>
                <a:ea typeface="Helvetica Neue"/>
                <a:cs typeface="Arial"/>
              </a:rPr>
              <a:t>We will validate assumptions made from CWFP Data. </a:t>
            </a:r>
          </a:p>
          <a:p>
            <a:pPr marL="342900" indent="-342900">
              <a:spcAft>
                <a:spcPts val="1200"/>
              </a:spcAft>
              <a:buFont typeface="Arial"/>
              <a:buChar char="•"/>
            </a:pPr>
            <a:r>
              <a:rPr lang="en-US" sz="2400">
                <a:latin typeface="Arial"/>
                <a:ea typeface="Helvetica Neue"/>
                <a:cs typeface="Arial"/>
              </a:rPr>
              <a:t>We will implement an automated coagulant dosing system in Puerto Rico.</a:t>
            </a:r>
            <a:endParaRPr lang="en-US" sz="2400">
              <a:latin typeface="Arial"/>
              <a:cs typeface="Arial"/>
            </a:endParaRPr>
          </a:p>
        </p:txBody>
      </p:sp>
      <p:sp>
        <p:nvSpPr>
          <p:cNvPr id="36" name="Rectangle 35"/>
          <p:cNvSpPr/>
          <p:nvPr/>
        </p:nvSpPr>
        <p:spPr>
          <a:xfrm>
            <a:off x="24549181" y="12408765"/>
            <a:ext cx="7312814" cy="458587"/>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Future Directions</a:t>
            </a:r>
          </a:p>
        </p:txBody>
      </p:sp>
      <p:sp>
        <p:nvSpPr>
          <p:cNvPr id="11" name="Text Box 190"/>
          <p:cNvSpPr txBox="1">
            <a:spLocks noChangeArrowheads="1"/>
          </p:cNvSpPr>
          <p:nvPr/>
        </p:nvSpPr>
        <p:spPr bwMode="auto">
          <a:xfrm>
            <a:off x="1060379" y="10861132"/>
            <a:ext cx="7315200" cy="5631706"/>
          </a:xfrm>
          <a:prstGeom prst="rect">
            <a:avLst/>
          </a:prstGeom>
          <a:solidFill>
            <a:schemeClr val="bg1"/>
          </a:solidFill>
          <a:ln w="12700">
            <a:solidFill>
              <a:schemeClr val="accent1">
                <a:lumMod val="75000"/>
              </a:schemeClr>
            </a:solidFill>
          </a:ln>
          <a:effectLst/>
        </p:spPr>
        <p:txBody>
          <a:bodyPr lIns="130302" tIns="130302" rIns="130302" bIns="130302" anchor="t">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en-US" sz="2400">
                <a:latin typeface="Arial"/>
                <a:cs typeface="Arial"/>
              </a:rPr>
              <a:t>     To predict the proper dosing of coagulant, the team has derived a model to describe the effect of coagulant on floc sweeping in the clarifier. </a:t>
            </a: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2400">
              <a:cs typeface="Arial"/>
            </a:endParaRPr>
          </a:p>
          <a:p>
            <a:endParaRPr lang="en-US" sz="1800">
              <a:latin typeface="Arial"/>
              <a:cs typeface="Arial"/>
            </a:endParaRPr>
          </a:p>
          <a:p>
            <a:pPr algn="ctr"/>
            <a:r>
              <a:rPr lang="en-US" sz="2400">
                <a:latin typeface="Arial"/>
                <a:cs typeface="Arial"/>
              </a:rPr>
              <a:t>Figure 2. Zooming in to floc sweeping process</a:t>
            </a:r>
            <a:endParaRPr lang="en-US" sz="2400">
              <a:cs typeface="Arial"/>
            </a:endParaRPr>
          </a:p>
        </p:txBody>
      </p:sp>
      <p:sp>
        <p:nvSpPr>
          <p:cNvPr id="45" name="Rectangle 44"/>
          <p:cNvSpPr/>
          <p:nvPr/>
        </p:nvSpPr>
        <p:spPr>
          <a:xfrm>
            <a:off x="16722547" y="2800350"/>
            <a:ext cx="7316830" cy="452331"/>
          </a:xfrm>
          <a:prstGeom prst="rect">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3600" b="1">
                <a:solidFill>
                  <a:schemeClr val="bg1"/>
                </a:solidFill>
              </a:rPr>
              <a:t>Results/Discussion I</a:t>
            </a:r>
          </a:p>
        </p:txBody>
      </p:sp>
      <p:sp>
        <p:nvSpPr>
          <p:cNvPr id="9" name="Rectangle 8">
            <a:extLst>
              <a:ext uri="{FF2B5EF4-FFF2-40B4-BE49-F238E27FC236}">
                <a16:creationId xmlns:a16="http://schemas.microsoft.com/office/drawing/2014/main" id="{A9F1DF87-1F34-CE69-F5D0-E47AAB55A78E}"/>
              </a:ext>
            </a:extLst>
          </p:cNvPr>
          <p:cNvSpPr/>
          <p:nvPr/>
        </p:nvSpPr>
        <p:spPr>
          <a:xfrm>
            <a:off x="-21774" y="2400301"/>
            <a:ext cx="548469" cy="146018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06D2494-6B7F-C5DB-4344-3A51B9E9FB8F}"/>
              </a:ext>
            </a:extLst>
          </p:cNvPr>
          <p:cNvSpPr/>
          <p:nvPr/>
        </p:nvSpPr>
        <p:spPr>
          <a:xfrm>
            <a:off x="32391705" y="2400301"/>
            <a:ext cx="548468" cy="1460182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BF4305-F25D-1D6E-EC32-6699DEC5C10C}"/>
              </a:ext>
            </a:extLst>
          </p:cNvPr>
          <p:cNvSpPr/>
          <p:nvPr/>
        </p:nvSpPr>
        <p:spPr>
          <a:xfrm>
            <a:off x="-30650" y="722908"/>
            <a:ext cx="32992598" cy="1693898"/>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rot="10800000" flipV="1">
            <a:off x="3445147" y="16924399"/>
            <a:ext cx="2026340" cy="477861"/>
          </a:xfrm>
          <a:prstGeom prst="rect">
            <a:avLst/>
          </a:prstGeom>
          <a:noFill/>
        </p:spPr>
        <p:txBody>
          <a:bodyPr wrap="square" lIns="46518" tIns="23260" rIns="46518" bIns="23260" rtlCol="0">
            <a:spAutoFit/>
          </a:bodyPr>
          <a:lstStyle/>
          <a:p>
            <a:r>
              <a:rPr lang="en-US" sz="2800" b="1">
                <a:solidFill>
                  <a:schemeClr val="bg1"/>
                </a:solidFill>
              </a:rPr>
              <a:t>Contact</a:t>
            </a:r>
          </a:p>
        </p:txBody>
      </p:sp>
      <p:sp>
        <p:nvSpPr>
          <p:cNvPr id="24" name="TextBox 23"/>
          <p:cNvSpPr txBox="1"/>
          <p:nvPr/>
        </p:nvSpPr>
        <p:spPr>
          <a:xfrm>
            <a:off x="3445147" y="17450882"/>
            <a:ext cx="2480752" cy="1278081"/>
          </a:xfrm>
          <a:prstGeom prst="rect">
            <a:avLst/>
          </a:prstGeom>
          <a:solidFill>
            <a:schemeClr val="tx2">
              <a:lumMod val="75000"/>
            </a:schemeClr>
          </a:solidFill>
        </p:spPr>
        <p:txBody>
          <a:bodyPr wrap="none" lIns="46518" tIns="23260" rIns="46518" bIns="23260" rtlCol="0">
            <a:spAutoFit/>
          </a:bodyPr>
          <a:lstStyle/>
          <a:p>
            <a:r>
              <a:rPr lang="en-US" sz="1600">
                <a:solidFill>
                  <a:schemeClr val="bg1"/>
                </a:solidFill>
              </a:rPr>
              <a:t>Kayla Stephenson </a:t>
            </a:r>
          </a:p>
          <a:p>
            <a:r>
              <a:rPr lang="en-US" sz="1600">
                <a:solidFill>
                  <a:schemeClr val="bg1"/>
                </a:solidFill>
              </a:rPr>
              <a:t>Agua Clara</a:t>
            </a:r>
          </a:p>
          <a:p>
            <a:r>
              <a:rPr lang="en-US" sz="1600">
                <a:solidFill>
                  <a:schemeClr val="bg1"/>
                </a:solidFill>
              </a:rPr>
              <a:t>ks929@cornell.edu</a:t>
            </a:r>
          </a:p>
          <a:p>
            <a:r>
              <a:rPr lang="en-US" sz="1600">
                <a:solidFill>
                  <a:srgbClr val="00B0F0"/>
                </a:solidFill>
                <a:hlinkClick r:id="rId6">
                  <a:extLst>
                    <a:ext uri="{A12FA001-AC4F-418D-AE19-62706E023703}">
                      <ahyp:hlinkClr xmlns:ahyp="http://schemas.microsoft.com/office/drawing/2018/hyperlinkcolor" val="tx"/>
                    </a:ext>
                  </a:extLst>
                </a:hlinkClick>
              </a:rPr>
              <a:t>http://aguaclara.cornell.edu</a:t>
            </a:r>
            <a:r>
              <a:rPr lang="en-US" sz="1600">
                <a:solidFill>
                  <a:srgbClr val="00B0F0"/>
                </a:solidFill>
              </a:rPr>
              <a:t> </a:t>
            </a:r>
          </a:p>
          <a:p>
            <a:r>
              <a:rPr lang="en-US" sz="1600">
                <a:solidFill>
                  <a:schemeClr val="bg1"/>
                </a:solidFill>
              </a:rPr>
              <a:t>410-424-9407 </a:t>
            </a:r>
          </a:p>
        </p:txBody>
      </p:sp>
      <p:sp>
        <p:nvSpPr>
          <p:cNvPr id="26" name="TextBox 25"/>
          <p:cNvSpPr txBox="1"/>
          <p:nvPr/>
        </p:nvSpPr>
        <p:spPr>
          <a:xfrm>
            <a:off x="17695840" y="17448803"/>
            <a:ext cx="14630400" cy="1786858"/>
          </a:xfrm>
          <a:prstGeom prst="rect">
            <a:avLst/>
          </a:prstGeom>
          <a:noFill/>
        </p:spPr>
        <p:txBody>
          <a:bodyPr wrap="square" lIns="46518" tIns="46518" rIns="46518" bIns="46518" numCol="1" spcCol="232590" rtlCol="0">
            <a:noAutofit/>
          </a:bodyPr>
          <a:lstStyle/>
          <a:p>
            <a:pPr algn="l" rtl="0">
              <a:spcBef>
                <a:spcPts val="0"/>
              </a:spcBef>
              <a:spcAft>
                <a:spcPts val="0"/>
              </a:spcAft>
            </a:pPr>
            <a:r>
              <a:rPr lang="en-US" sz="1300">
                <a:solidFill>
                  <a:schemeClr val="bg1"/>
                </a:solidFill>
              </a:rPr>
              <a:t>1. </a:t>
            </a:r>
            <a:r>
              <a:rPr lang="en-US" sz="1300" b="0" u="none" strike="noStrike" err="1">
                <a:solidFill>
                  <a:schemeClr val="bg1"/>
                </a:solidFill>
                <a:effectLst/>
              </a:rPr>
              <a:t>AguaClara</a:t>
            </a:r>
            <a:r>
              <a:rPr lang="en-US" sz="1300" b="0" u="none" strike="noStrike">
                <a:solidFill>
                  <a:schemeClr val="bg1"/>
                </a:solidFill>
                <a:effectLst/>
              </a:rPr>
              <a:t> Hydraulic Flocculation Model. </a:t>
            </a:r>
            <a:r>
              <a:rPr lang="en-US" sz="1300" b="0" u="none" strike="noStrike" err="1">
                <a:solidFill>
                  <a:schemeClr val="bg1"/>
                </a:solidFill>
                <a:effectLst/>
              </a:rPr>
              <a:t>AguaClara</a:t>
            </a:r>
            <a:r>
              <a:rPr lang="en-US" sz="1300" b="0" u="none" strike="noStrike">
                <a:solidFill>
                  <a:schemeClr val="bg1"/>
                </a:solidFill>
                <a:effectLst/>
              </a:rPr>
              <a:t> Hydraulic Flocculation Model - </a:t>
            </a:r>
            <a:r>
              <a:rPr lang="en-US" sz="1300" b="0" u="none" strike="noStrike" err="1">
                <a:solidFill>
                  <a:schemeClr val="bg1"/>
                </a:solidFill>
                <a:effectLst/>
              </a:rPr>
              <a:t>AguaClara</a:t>
            </a:r>
            <a:r>
              <a:rPr lang="en-US" sz="1300" b="0" u="none" strike="noStrike">
                <a:solidFill>
                  <a:schemeClr val="bg1"/>
                </a:solidFill>
                <a:effectLst/>
              </a:rPr>
              <a:t> v1.4.35 documentation. (n.d.). </a:t>
            </a:r>
            <a:r>
              <a:rPr lang="en-US" sz="1300" b="0" u="sng" strike="noStrike">
                <a:solidFill>
                  <a:schemeClr val="accent1"/>
                </a:solidFill>
                <a:effectLst/>
                <a:hlinkClick r:id="rId7">
                  <a:extLst>
                    <a:ext uri="{A12FA001-AC4F-418D-AE19-62706E023703}">
                      <ahyp:hlinkClr xmlns:ahyp="http://schemas.microsoft.com/office/drawing/2018/hyperlinkcolor" val="tx"/>
                    </a:ext>
                  </a:extLst>
                </a:hlinkClick>
              </a:rPr>
              <a:t>https://aguaclara.github.io/Textbook/Flocculation/Floc_Model.html</a:t>
            </a:r>
            <a:r>
              <a:rPr lang="en-US" sz="1300" b="0" u="none" strike="noStrike">
                <a:solidFill>
                  <a:schemeClr val="accent1"/>
                </a:solidFill>
                <a:effectLst/>
              </a:rPr>
              <a:t> </a:t>
            </a:r>
          </a:p>
          <a:p>
            <a:pPr algn="l" rtl="0">
              <a:spcBef>
                <a:spcPts val="0"/>
              </a:spcBef>
              <a:spcAft>
                <a:spcPts val="0"/>
              </a:spcAft>
            </a:pPr>
            <a:r>
              <a:rPr lang="en-US" sz="1300" b="0" u="none" strike="noStrike">
                <a:solidFill>
                  <a:schemeClr val="bg1"/>
                </a:solidFill>
                <a:effectLst/>
              </a:rPr>
              <a:t>2. Clarification introduction. Clarification Introduction - </a:t>
            </a:r>
            <a:r>
              <a:rPr lang="en-US" sz="1300" b="0" u="none" strike="noStrike" err="1">
                <a:solidFill>
                  <a:schemeClr val="bg1"/>
                </a:solidFill>
                <a:effectLst/>
              </a:rPr>
              <a:t>AguaClara</a:t>
            </a:r>
            <a:r>
              <a:rPr lang="en-US" sz="1300" b="0" u="none" strike="noStrike">
                <a:solidFill>
                  <a:schemeClr val="bg1"/>
                </a:solidFill>
                <a:effectLst/>
              </a:rPr>
              <a:t> v1.4.35 documentation. (n.d.).</a:t>
            </a:r>
            <a:r>
              <a:rPr lang="en-US" sz="1300" b="0" u="none" strike="noStrike">
                <a:solidFill>
                  <a:schemeClr val="accent1"/>
                </a:solidFill>
                <a:effectLst/>
              </a:rPr>
              <a:t> </a:t>
            </a:r>
            <a:r>
              <a:rPr lang="en-US" sz="1300" b="0" u="sng" strike="noStrike">
                <a:solidFill>
                  <a:schemeClr val="accent1"/>
                </a:solidFill>
                <a:effectLst/>
                <a:hlinkClick r:id="rId8">
                  <a:extLst>
                    <a:ext uri="{A12FA001-AC4F-418D-AE19-62706E023703}">
                      <ahyp:hlinkClr xmlns:ahyp="http://schemas.microsoft.com/office/drawing/2018/hyperlinkcolor" val="tx"/>
                    </a:ext>
                  </a:extLst>
                </a:hlinkClick>
              </a:rPr>
              <a:t>https://aguaclara.github.io/Textbook/Clarification/Clarifier_Intro.html</a:t>
            </a:r>
            <a:r>
              <a:rPr lang="en-US" sz="1300" b="0" u="none" strike="noStrike">
                <a:solidFill>
                  <a:schemeClr val="accent1"/>
                </a:solidFill>
                <a:effectLst/>
              </a:rPr>
              <a:t> </a:t>
            </a:r>
          </a:p>
          <a:p>
            <a:pPr algn="l" rtl="0">
              <a:spcBef>
                <a:spcPts val="0"/>
              </a:spcBef>
              <a:spcAft>
                <a:spcPts val="0"/>
              </a:spcAft>
            </a:pPr>
            <a:r>
              <a:rPr lang="en-US" sz="1300" b="0" u="none" strike="noStrike">
                <a:solidFill>
                  <a:schemeClr val="bg1"/>
                </a:solidFill>
                <a:effectLst/>
              </a:rPr>
              <a:t>3. Coagulant Automation. Coagulant Automation - </a:t>
            </a:r>
            <a:r>
              <a:rPr lang="en-US" sz="1300" b="0" u="none" strike="noStrike" err="1">
                <a:solidFill>
                  <a:schemeClr val="bg1"/>
                </a:solidFill>
                <a:effectLst/>
              </a:rPr>
              <a:t>AguaClara</a:t>
            </a:r>
            <a:r>
              <a:rPr lang="en-US" sz="1300" b="0" u="none" strike="noStrike">
                <a:solidFill>
                  <a:schemeClr val="bg1"/>
                </a:solidFill>
                <a:effectLst/>
              </a:rPr>
              <a:t> v1.4.35 documentation. (n.d.). </a:t>
            </a:r>
            <a:r>
              <a:rPr lang="en-US" sz="1300" b="0" u="sng" strike="noStrike">
                <a:solidFill>
                  <a:schemeClr val="accent1"/>
                </a:solidFill>
                <a:effectLst/>
                <a:hlinkClick r:id="rId9">
                  <a:extLst>
                    <a:ext uri="{A12FA001-AC4F-418D-AE19-62706E023703}">
                      <ahyp:hlinkClr xmlns:ahyp="http://schemas.microsoft.com/office/drawing/2018/hyperlinkcolor" val="tx"/>
                    </a:ext>
                  </a:extLst>
                </a:hlinkClick>
              </a:rPr>
              <a:t>https://aguaclara.github.io/Textbook/Operation/Coagulant_Automation.html</a:t>
            </a:r>
            <a:r>
              <a:rPr lang="en-US" sz="1300" b="0" u="none" strike="noStrike">
                <a:solidFill>
                  <a:schemeClr val="accent1"/>
                </a:solidFill>
                <a:effectLst/>
              </a:rPr>
              <a:t> </a:t>
            </a:r>
            <a:r>
              <a:rPr lang="en-US" sz="1300" b="0" u="none" strike="noStrike">
                <a:solidFill>
                  <a:srgbClr val="000000"/>
                </a:solidFill>
                <a:effectLst/>
              </a:rPr>
              <a:t> </a:t>
            </a:r>
          </a:p>
          <a:p>
            <a:r>
              <a:rPr lang="en-US" sz="1300">
                <a:solidFill>
                  <a:schemeClr val="bg1"/>
                </a:solidFill>
              </a:rPr>
              <a:t>4. Du, Y., Pennock, W. H., Weber-Shirk, M. L., &amp; Lion, L. W. (2019). Observations and a Geometric Explanation of Effects of Humic Acid on Flocculation. Environmental Engineering Science, 36(5), 614–622. </a:t>
            </a:r>
            <a:r>
              <a:rPr lang="en-US" sz="1300">
                <a:solidFill>
                  <a:schemeClr val="accent1"/>
                </a:solidFill>
                <a:hlinkClick r:id="rId10">
                  <a:extLst>
                    <a:ext uri="{A12FA001-AC4F-418D-AE19-62706E023703}">
                      <ahyp:hlinkClr xmlns:ahyp="http://schemas.microsoft.com/office/drawing/2018/hyperlinkcolor" val="tx"/>
                    </a:ext>
                  </a:extLst>
                </a:hlinkClick>
              </a:rPr>
              <a:t>https://doi.org/10.1089/ees.2018.0405</a:t>
            </a:r>
            <a:endParaRPr lang="en-US" sz="1300">
              <a:solidFill>
                <a:schemeClr val="accent1"/>
              </a:solidFill>
            </a:endParaRPr>
          </a:p>
          <a:p>
            <a:r>
              <a:rPr lang="en-US" sz="1300">
                <a:solidFill>
                  <a:schemeClr val="bg1"/>
                </a:solidFill>
              </a:rPr>
              <a:t>5. Kuan-Mu Yao, Mohammad T. </a:t>
            </a:r>
            <a:r>
              <a:rPr lang="en-US" sz="1300" err="1">
                <a:solidFill>
                  <a:schemeClr val="bg1"/>
                </a:solidFill>
              </a:rPr>
              <a:t>Habibian</a:t>
            </a:r>
            <a:r>
              <a:rPr lang="en-US" sz="1300">
                <a:solidFill>
                  <a:schemeClr val="bg1"/>
                </a:solidFill>
              </a:rPr>
              <a:t>, and Charles R. </a:t>
            </a:r>
            <a:r>
              <a:rPr lang="en-US" sz="1300" err="1">
                <a:solidFill>
                  <a:schemeClr val="bg1"/>
                </a:solidFill>
              </a:rPr>
              <a:t>O'Melia</a:t>
            </a:r>
            <a:r>
              <a:rPr lang="en-US" sz="1300">
                <a:solidFill>
                  <a:schemeClr val="bg1"/>
                </a:solidFill>
              </a:rPr>
              <a:t> Environmental Science &amp; Technology 1971 5 (11), 1105-1112 DOI: 10.1021/es60058a005</a:t>
            </a:r>
          </a:p>
          <a:p>
            <a:r>
              <a:rPr lang="en-US" sz="1300">
                <a:solidFill>
                  <a:schemeClr val="bg1"/>
                </a:solidFill>
              </a:rPr>
              <a:t>‌</a:t>
            </a:r>
            <a:br>
              <a:rPr lang="en-US" sz="1300">
                <a:solidFill>
                  <a:schemeClr val="bg1"/>
                </a:solidFill>
              </a:rPr>
            </a:br>
            <a:r>
              <a:rPr lang="en-US" sz="1300">
                <a:solidFill>
                  <a:schemeClr val="bg1"/>
                </a:solidFill>
              </a:rPr>
              <a:t>  </a:t>
            </a:r>
          </a:p>
        </p:txBody>
      </p:sp>
      <p:sp>
        <p:nvSpPr>
          <p:cNvPr id="4" name="Text Box 122"/>
          <p:cNvSpPr txBox="1">
            <a:spLocks noChangeArrowheads="1"/>
          </p:cNvSpPr>
          <p:nvPr/>
        </p:nvSpPr>
        <p:spPr bwMode="auto">
          <a:xfrm>
            <a:off x="5228839" y="294470"/>
            <a:ext cx="24688800" cy="1700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035" tIns="232590" rIns="93035" bIns="23259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8000" b="1">
                <a:solidFill>
                  <a:schemeClr val="bg1"/>
                </a:solidFill>
                <a:latin typeface="+mn-lt"/>
              </a:rPr>
              <a:t>Coagulant Dosing: Simplifying Plant Operation</a:t>
            </a:r>
          </a:p>
        </p:txBody>
      </p:sp>
      <p:sp>
        <p:nvSpPr>
          <p:cNvPr id="5" name="Text Box 123"/>
          <p:cNvSpPr txBox="1">
            <a:spLocks noChangeArrowheads="1"/>
          </p:cNvSpPr>
          <p:nvPr/>
        </p:nvSpPr>
        <p:spPr bwMode="auto">
          <a:xfrm>
            <a:off x="5344297" y="1620068"/>
            <a:ext cx="246888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035" tIns="93035" rIns="93035" bIns="93035"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3600">
                <a:solidFill>
                  <a:schemeClr val="bg1"/>
                </a:solidFill>
                <a:latin typeface="+mn-lt"/>
              </a:rPr>
              <a:t>Kayla Stephenson | Ulises Balbuena Figueroa | </a:t>
            </a:r>
            <a:r>
              <a:rPr lang="en-US" sz="3600" err="1">
                <a:solidFill>
                  <a:schemeClr val="bg1"/>
                </a:solidFill>
                <a:latin typeface="+mn-lt"/>
              </a:rPr>
              <a:t>Sweksha</a:t>
            </a:r>
            <a:r>
              <a:rPr lang="en-US" sz="3600">
                <a:solidFill>
                  <a:schemeClr val="bg1"/>
                </a:solidFill>
                <a:latin typeface="+mn-lt"/>
              </a:rPr>
              <a:t> Mehta | Anjali </a:t>
            </a:r>
            <a:r>
              <a:rPr lang="en-US" sz="3600" err="1">
                <a:solidFill>
                  <a:schemeClr val="bg1"/>
                </a:solidFill>
                <a:latin typeface="+mn-lt"/>
              </a:rPr>
              <a:t>Asthagiri</a:t>
            </a:r>
            <a:r>
              <a:rPr lang="en-US" sz="3600">
                <a:solidFill>
                  <a:schemeClr val="bg1"/>
                </a:solidFill>
                <a:latin typeface="+mn-lt"/>
              </a:rPr>
              <a:t> | Alex Van Den </a:t>
            </a:r>
            <a:r>
              <a:rPr lang="en-US" sz="3600" err="1">
                <a:solidFill>
                  <a:schemeClr val="bg1"/>
                </a:solidFill>
                <a:latin typeface="+mn-lt"/>
              </a:rPr>
              <a:t>Hende</a:t>
            </a:r>
            <a:endParaRPr lang="en-US" sz="3600">
              <a:solidFill>
                <a:schemeClr val="bg1"/>
              </a:solidFill>
              <a:latin typeface="+mn-lt"/>
            </a:endParaRPr>
          </a:p>
        </p:txBody>
      </p:sp>
      <p:pic>
        <p:nvPicPr>
          <p:cNvPr id="21" name="Picture 20" descr="A blue and green logo&#10;&#10;Description automatically generated">
            <a:extLst>
              <a:ext uri="{FF2B5EF4-FFF2-40B4-BE49-F238E27FC236}">
                <a16:creationId xmlns:a16="http://schemas.microsoft.com/office/drawing/2014/main" id="{F590A877-64ED-62DB-9F78-A7B93127D1B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0572790" y="-215498"/>
            <a:ext cx="2093149" cy="2643298"/>
          </a:xfrm>
          <a:prstGeom prst="rect">
            <a:avLst/>
          </a:prstGeom>
        </p:spPr>
      </p:pic>
      <p:pic>
        <p:nvPicPr>
          <p:cNvPr id="39" name="Picture 38">
            <a:extLst>
              <a:ext uri="{FF2B5EF4-FFF2-40B4-BE49-F238E27FC236}">
                <a16:creationId xmlns:a16="http://schemas.microsoft.com/office/drawing/2014/main" id="{CACA2D8C-6744-5478-28E9-BE96A7D87C0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08344" y="1026147"/>
            <a:ext cx="4121056" cy="461751"/>
          </a:xfrm>
          <a:prstGeom prst="rect">
            <a:avLst/>
          </a:prstGeom>
        </p:spPr>
      </p:pic>
      <p:pic>
        <p:nvPicPr>
          <p:cNvPr id="3" name="圖形 2">
            <a:extLst>
              <a:ext uri="{FF2B5EF4-FFF2-40B4-BE49-F238E27FC236}">
                <a16:creationId xmlns:a16="http://schemas.microsoft.com/office/drawing/2014/main" id="{A7E97EC0-F12D-DE80-2DA1-FA24FBBDECD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52460" y="46068"/>
            <a:ext cx="2093149" cy="2093149"/>
          </a:xfrm>
          <a:prstGeom prst="rect">
            <a:avLst/>
          </a:prstGeom>
        </p:spPr>
      </p:pic>
      <p:pic>
        <p:nvPicPr>
          <p:cNvPr id="23" name="Picture 22" descr="A qr code with a white background&#10;&#10;Description automatically generated">
            <a:extLst>
              <a:ext uri="{FF2B5EF4-FFF2-40B4-BE49-F238E27FC236}">
                <a16:creationId xmlns:a16="http://schemas.microsoft.com/office/drawing/2014/main" id="{680DF4ED-C77E-013E-5D19-B20C039B92D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2742058" y="6493230"/>
            <a:ext cx="1778934" cy="1778934"/>
          </a:xfrm>
          <a:prstGeom prst="rect">
            <a:avLst/>
          </a:prstGeom>
        </p:spPr>
      </p:pic>
      <p:pic>
        <p:nvPicPr>
          <p:cNvPr id="48" name="Picture 47" descr="A math equations with black text&#10;&#10;Description automatically generated with medium confidence">
            <a:extLst>
              <a:ext uri="{FF2B5EF4-FFF2-40B4-BE49-F238E27FC236}">
                <a16:creationId xmlns:a16="http://schemas.microsoft.com/office/drawing/2014/main" id="{7A0369BA-AA64-1EB6-B0EF-D2F4104EFC7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031192" y="9522613"/>
            <a:ext cx="7013297" cy="1475475"/>
          </a:xfrm>
          <a:prstGeom prst="rect">
            <a:avLst/>
          </a:prstGeom>
        </p:spPr>
      </p:pic>
      <p:pic>
        <p:nvPicPr>
          <p:cNvPr id="52" name="Picture 51" descr="A white text with black text&#10;&#10;Description automatically generated">
            <a:extLst>
              <a:ext uri="{FF2B5EF4-FFF2-40B4-BE49-F238E27FC236}">
                <a16:creationId xmlns:a16="http://schemas.microsoft.com/office/drawing/2014/main" id="{48C971AA-0F3B-7AA4-7B0E-CE6BE6F46E8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210599" y="11190728"/>
            <a:ext cx="6676230" cy="2685591"/>
          </a:xfrm>
          <a:prstGeom prst="rect">
            <a:avLst/>
          </a:prstGeom>
        </p:spPr>
      </p:pic>
      <p:sp>
        <p:nvSpPr>
          <p:cNvPr id="57" name="TextBox 56">
            <a:extLst>
              <a:ext uri="{FF2B5EF4-FFF2-40B4-BE49-F238E27FC236}">
                <a16:creationId xmlns:a16="http://schemas.microsoft.com/office/drawing/2014/main" id="{6C567B31-0618-7526-D8C7-54BE71373914}"/>
              </a:ext>
            </a:extLst>
          </p:cNvPr>
          <p:cNvSpPr txBox="1"/>
          <p:nvPr/>
        </p:nvSpPr>
        <p:spPr>
          <a:xfrm>
            <a:off x="9996570" y="6971769"/>
            <a:ext cx="2803343" cy="861774"/>
          </a:xfrm>
          <a:prstGeom prst="rect">
            <a:avLst/>
          </a:prstGeom>
          <a:noFill/>
        </p:spPr>
        <p:txBody>
          <a:bodyPr wrap="square" rtlCol="0">
            <a:spAutoFit/>
          </a:bodyPr>
          <a:lstStyle/>
          <a:p>
            <a:pPr algn="r"/>
            <a:r>
              <a:rPr lang="en-US" sz="2400">
                <a:latin typeface="Arial" panose="020B0604020202020204" pitchFamily="34" charset="0"/>
                <a:cs typeface="Arial" panose="020B0604020202020204" pitchFamily="34" charset="0"/>
              </a:rPr>
              <a:t>Scan QR code for model derivations</a:t>
            </a:r>
          </a:p>
        </p:txBody>
      </p:sp>
      <p:grpSp>
        <p:nvGrpSpPr>
          <p:cNvPr id="44" name="Group 43">
            <a:extLst>
              <a:ext uri="{FF2B5EF4-FFF2-40B4-BE49-F238E27FC236}">
                <a16:creationId xmlns:a16="http://schemas.microsoft.com/office/drawing/2014/main" id="{842418ED-6E1F-E296-14CC-27F4B1281E52}"/>
              </a:ext>
            </a:extLst>
          </p:cNvPr>
          <p:cNvGrpSpPr/>
          <p:nvPr/>
        </p:nvGrpSpPr>
        <p:grpSpPr>
          <a:xfrm>
            <a:off x="25418388" y="3408158"/>
            <a:ext cx="5588745" cy="5003055"/>
            <a:chOff x="17445541" y="7093602"/>
            <a:chExt cx="6041612" cy="5593562"/>
          </a:xfrm>
        </p:grpSpPr>
        <p:pic>
          <p:nvPicPr>
            <p:cNvPr id="6" name="Picture 5" descr="A graph with blue and white lines&#10;&#10;Description automatically generated">
              <a:extLst>
                <a:ext uri="{FF2B5EF4-FFF2-40B4-BE49-F238E27FC236}">
                  <a16:creationId xmlns:a16="http://schemas.microsoft.com/office/drawing/2014/main" id="{D4ADB592-4471-D3D6-B6B6-A95C65FADFB2}"/>
                </a:ext>
              </a:extLst>
            </p:cNvPr>
            <p:cNvPicPr>
              <a:picLocks noChangeAspect="1"/>
            </p:cNvPicPr>
            <p:nvPr/>
          </p:nvPicPr>
          <p:blipFill rotWithShape="1">
            <a:blip r:embed="rId18"/>
            <a:srcRect t="5321" r="-1138" b="-1081"/>
            <a:stretch/>
          </p:blipFill>
          <p:spPr>
            <a:xfrm>
              <a:off x="17467316" y="7093602"/>
              <a:ext cx="6019837" cy="4839478"/>
            </a:xfrm>
            <a:prstGeom prst="rect">
              <a:avLst/>
            </a:prstGeom>
          </p:spPr>
        </p:pic>
        <p:sp>
          <p:nvSpPr>
            <p:cNvPr id="20" name="TextBox 19">
              <a:extLst>
                <a:ext uri="{FF2B5EF4-FFF2-40B4-BE49-F238E27FC236}">
                  <a16:creationId xmlns:a16="http://schemas.microsoft.com/office/drawing/2014/main" id="{D8FC7EC1-71E3-BDD9-D857-8AD0256CD40B}"/>
                </a:ext>
              </a:extLst>
            </p:cNvPr>
            <p:cNvSpPr txBox="1"/>
            <p:nvPr/>
          </p:nvSpPr>
          <p:spPr>
            <a:xfrm>
              <a:off x="17445541" y="11758085"/>
              <a:ext cx="6019836" cy="929079"/>
            </a:xfrm>
            <a:prstGeom prst="rect">
              <a:avLst/>
            </a:prstGeom>
            <a:noFill/>
          </p:spPr>
          <p:txBody>
            <a:bodyPr wrap="square" lIns="91440" tIns="45720" rIns="91440" bIns="45720" anchor="t">
              <a:spAutoFit/>
            </a:bodyPr>
            <a:lstStyle/>
            <a:p>
              <a:pPr algn="ctr"/>
              <a:r>
                <a:rPr lang="en-US" sz="2400">
                  <a:latin typeface="Arial"/>
                  <a:cs typeface="Arial"/>
                </a:rPr>
                <a:t>Figure 5. Model fitting to CWFP data, assuming no DOM</a:t>
              </a:r>
            </a:p>
          </p:txBody>
        </p:sp>
      </p:grpSp>
      <p:grpSp>
        <p:nvGrpSpPr>
          <p:cNvPr id="46" name="Group 45">
            <a:extLst>
              <a:ext uri="{FF2B5EF4-FFF2-40B4-BE49-F238E27FC236}">
                <a16:creationId xmlns:a16="http://schemas.microsoft.com/office/drawing/2014/main" id="{7E6A0033-950F-2953-F896-B6CC867B08F2}"/>
              </a:ext>
            </a:extLst>
          </p:cNvPr>
          <p:cNvGrpSpPr/>
          <p:nvPr/>
        </p:nvGrpSpPr>
        <p:grpSpPr>
          <a:xfrm>
            <a:off x="17400670" y="5300648"/>
            <a:ext cx="5974013" cy="3709972"/>
            <a:chOff x="17255026" y="12609171"/>
            <a:chExt cx="6145475" cy="3861272"/>
          </a:xfrm>
        </p:grpSpPr>
        <p:grpSp>
          <p:nvGrpSpPr>
            <p:cNvPr id="38" name="Group 37">
              <a:extLst>
                <a:ext uri="{FF2B5EF4-FFF2-40B4-BE49-F238E27FC236}">
                  <a16:creationId xmlns:a16="http://schemas.microsoft.com/office/drawing/2014/main" id="{33DE1BFD-3BE4-2141-3CB0-F209B82282AF}"/>
                </a:ext>
              </a:extLst>
            </p:cNvPr>
            <p:cNvGrpSpPr/>
            <p:nvPr/>
          </p:nvGrpSpPr>
          <p:grpSpPr>
            <a:xfrm>
              <a:off x="17255026" y="12609171"/>
              <a:ext cx="5843225" cy="2672710"/>
              <a:chOff x="16791672" y="13356490"/>
              <a:chExt cx="3584817" cy="1639707"/>
            </a:xfrm>
          </p:grpSpPr>
          <p:pic>
            <p:nvPicPr>
              <p:cNvPr id="37" name="Picture 36" descr="A graph with dotted lines and red line&#10;&#10;Description automatically generated">
                <a:extLst>
                  <a:ext uri="{FF2B5EF4-FFF2-40B4-BE49-F238E27FC236}">
                    <a16:creationId xmlns:a16="http://schemas.microsoft.com/office/drawing/2014/main" id="{F4692B93-C185-A40A-8D52-A4A9C0B02362}"/>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6965356" y="13356490"/>
                <a:ext cx="3411133" cy="1526033"/>
              </a:xfrm>
              <a:prstGeom prst="rect">
                <a:avLst/>
              </a:prstGeom>
            </p:spPr>
          </p:pic>
          <p:sp>
            <p:nvSpPr>
              <p:cNvPr id="28" name="TextBox 27">
                <a:extLst>
                  <a:ext uri="{FF2B5EF4-FFF2-40B4-BE49-F238E27FC236}">
                    <a16:creationId xmlns:a16="http://schemas.microsoft.com/office/drawing/2014/main" id="{0E9AE633-3D9F-3B1E-C585-4A868CD9259A}"/>
                  </a:ext>
                </a:extLst>
              </p:cNvPr>
              <p:cNvSpPr txBox="1"/>
              <p:nvPr/>
            </p:nvSpPr>
            <p:spPr>
              <a:xfrm>
                <a:off x="18210489" y="14826258"/>
                <a:ext cx="966645" cy="169939"/>
              </a:xfrm>
              <a:prstGeom prst="rect">
                <a:avLst/>
              </a:prstGeom>
              <a:noFill/>
            </p:spPr>
            <p:txBody>
              <a:bodyPr wrap="none" rtlCol="0">
                <a:spAutoFit/>
              </a:bodyPr>
              <a:lstStyle/>
              <a:p>
                <a:r>
                  <a:rPr lang="en-US" sz="1200">
                    <a:latin typeface="Arial" panose="020B0604020202020204" pitchFamily="34" charset="0"/>
                    <a:cs typeface="Arial" panose="020B0604020202020204" pitchFamily="34" charset="0"/>
                  </a:rPr>
                  <a:t>Raw Turbidity (NTU)</a:t>
                </a:r>
              </a:p>
            </p:txBody>
          </p:sp>
          <p:sp>
            <p:nvSpPr>
              <p:cNvPr id="29" name="TextBox 28">
                <a:extLst>
                  <a:ext uri="{FF2B5EF4-FFF2-40B4-BE49-F238E27FC236}">
                    <a16:creationId xmlns:a16="http://schemas.microsoft.com/office/drawing/2014/main" id="{FED742F0-7C27-A674-1DB1-92ED4627F5FD}"/>
                  </a:ext>
                </a:extLst>
              </p:cNvPr>
              <p:cNvSpPr txBox="1"/>
              <p:nvPr/>
            </p:nvSpPr>
            <p:spPr>
              <a:xfrm rot="16200000">
                <a:off x="16284020" y="14005056"/>
                <a:ext cx="1185244" cy="169939"/>
              </a:xfrm>
              <a:prstGeom prst="rect">
                <a:avLst/>
              </a:prstGeom>
              <a:noFill/>
            </p:spPr>
            <p:txBody>
              <a:bodyPr wrap="none" rtlCol="0">
                <a:spAutoFit/>
              </a:bodyPr>
              <a:lstStyle/>
              <a:p>
                <a:r>
                  <a:rPr lang="en-US" sz="1200">
                    <a:latin typeface="Arial" panose="020B0604020202020204" pitchFamily="34" charset="0"/>
                    <a:cs typeface="Arial" panose="020B0604020202020204" pitchFamily="34" charset="0"/>
                  </a:rPr>
                  <a:t>Coagulant Dosage (PPM)</a:t>
                </a:r>
              </a:p>
            </p:txBody>
          </p:sp>
        </p:grpSp>
        <p:sp>
          <p:nvSpPr>
            <p:cNvPr id="22" name="TextBox 21">
              <a:extLst>
                <a:ext uri="{FF2B5EF4-FFF2-40B4-BE49-F238E27FC236}">
                  <a16:creationId xmlns:a16="http://schemas.microsoft.com/office/drawing/2014/main" id="{5786C563-2B1A-0456-F7EE-FD0AAF2DFD0A}"/>
                </a:ext>
              </a:extLst>
            </p:cNvPr>
            <p:cNvSpPr txBox="1"/>
            <p:nvPr/>
          </p:nvSpPr>
          <p:spPr>
            <a:xfrm>
              <a:off x="17310497" y="15270114"/>
              <a:ext cx="6090004" cy="1200329"/>
            </a:xfrm>
            <a:prstGeom prst="rect">
              <a:avLst/>
            </a:prstGeom>
            <a:noFill/>
          </p:spPr>
          <p:txBody>
            <a:bodyPr wrap="square" lIns="91440" tIns="45720" rIns="91440" bIns="45720" anchor="t">
              <a:spAutoFit/>
            </a:bodyPr>
            <a:lstStyle/>
            <a:p>
              <a:pPr algn="ctr"/>
              <a:r>
                <a:rPr lang="en-US" sz="2400">
                  <a:latin typeface="Arial"/>
                  <a:cs typeface="Arial"/>
                </a:rPr>
                <a:t>Figure 3. Model fitting to CWFP data, assuming constant clarified turbidity of 0.24 NTU and no DOM</a:t>
              </a:r>
            </a:p>
          </p:txBody>
        </p:sp>
      </p:grpSp>
      <p:grpSp>
        <p:nvGrpSpPr>
          <p:cNvPr id="43" name="Group 42">
            <a:extLst>
              <a:ext uri="{FF2B5EF4-FFF2-40B4-BE49-F238E27FC236}">
                <a16:creationId xmlns:a16="http://schemas.microsoft.com/office/drawing/2014/main" id="{C7831BC8-2CEF-84DE-59FD-2ADF0C8127B4}"/>
              </a:ext>
            </a:extLst>
          </p:cNvPr>
          <p:cNvGrpSpPr/>
          <p:nvPr/>
        </p:nvGrpSpPr>
        <p:grpSpPr>
          <a:xfrm>
            <a:off x="17495720" y="12362156"/>
            <a:ext cx="5811675" cy="3889484"/>
            <a:chOff x="18353118" y="3267101"/>
            <a:chExt cx="5476284" cy="3392892"/>
          </a:xfrm>
        </p:grpSpPr>
        <p:pic>
          <p:nvPicPr>
            <p:cNvPr id="2" name="Picture 15" descr="A graph with blue dots&#10;&#10;Description automatically generated">
              <a:extLst>
                <a:ext uri="{FF2B5EF4-FFF2-40B4-BE49-F238E27FC236}">
                  <a16:creationId xmlns:a16="http://schemas.microsoft.com/office/drawing/2014/main" id="{2B4AF53E-2055-4A92-139D-CF4EB38EB422}"/>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8353118" y="3267101"/>
              <a:ext cx="5455919" cy="2737310"/>
            </a:xfrm>
            <a:prstGeom prst="rect">
              <a:avLst/>
            </a:prstGeom>
          </p:spPr>
        </p:pic>
        <p:sp>
          <p:nvSpPr>
            <p:cNvPr id="40" name="TextBox 39">
              <a:extLst>
                <a:ext uri="{FF2B5EF4-FFF2-40B4-BE49-F238E27FC236}">
                  <a16:creationId xmlns:a16="http://schemas.microsoft.com/office/drawing/2014/main" id="{7698D68A-8AFA-AB0B-579E-5A2A328BE2DA}"/>
                </a:ext>
              </a:extLst>
            </p:cNvPr>
            <p:cNvSpPr txBox="1"/>
            <p:nvPr/>
          </p:nvSpPr>
          <p:spPr>
            <a:xfrm>
              <a:off x="18767381" y="5983970"/>
              <a:ext cx="5062021" cy="676023"/>
            </a:xfrm>
            <a:prstGeom prst="rect">
              <a:avLst/>
            </a:prstGeom>
            <a:noFill/>
          </p:spPr>
          <p:txBody>
            <a:bodyPr wrap="square" lIns="91440" tIns="45720" rIns="91440" bIns="45720" anchor="t">
              <a:spAutoFit/>
            </a:bodyPr>
            <a:lstStyle/>
            <a:p>
              <a:pPr algn="ctr"/>
              <a:r>
                <a:rPr lang="en-US" sz="2400">
                  <a:latin typeface="Arial"/>
                  <a:cs typeface="Arial"/>
                </a:rPr>
                <a:t>Figure 4. Dependent relationship between DOM and raw turbidity</a:t>
              </a:r>
            </a:p>
          </p:txBody>
        </p:sp>
      </p:grpSp>
      <p:pic>
        <p:nvPicPr>
          <p:cNvPr id="7" name="Picture 6" descr="A diagram of a structure&#10;&#10;Description automatically generated">
            <a:extLst>
              <a:ext uri="{FF2B5EF4-FFF2-40B4-BE49-F238E27FC236}">
                <a16:creationId xmlns:a16="http://schemas.microsoft.com/office/drawing/2014/main" id="{2103036C-8B55-CF7A-46AB-E9149ADD3641}"/>
              </a:ext>
            </a:extLst>
          </p:cNvPr>
          <p:cNvPicPr>
            <a:picLocks noChangeAspect="1"/>
          </p:cNvPicPr>
          <p:nvPr/>
        </p:nvPicPr>
        <p:blipFill rotWithShape="1">
          <a:blip r:embed="rId21"/>
          <a:srcRect t="-1317" r="7272" b="5295"/>
          <a:stretch/>
        </p:blipFill>
        <p:spPr>
          <a:xfrm>
            <a:off x="3020071" y="12260555"/>
            <a:ext cx="4417535" cy="3470960"/>
          </a:xfrm>
          <a:prstGeom prst="rect">
            <a:avLst/>
          </a:prstGeom>
        </p:spPr>
      </p:pic>
      <p:sp>
        <p:nvSpPr>
          <p:cNvPr id="8" name="TextBox 7">
            <a:extLst>
              <a:ext uri="{FF2B5EF4-FFF2-40B4-BE49-F238E27FC236}">
                <a16:creationId xmlns:a16="http://schemas.microsoft.com/office/drawing/2014/main" id="{4D8F17FB-3183-681F-C37A-2DB3FEF0711C}"/>
              </a:ext>
            </a:extLst>
          </p:cNvPr>
          <p:cNvSpPr txBox="1"/>
          <p:nvPr/>
        </p:nvSpPr>
        <p:spPr>
          <a:xfrm>
            <a:off x="25770144" y="11063861"/>
            <a:ext cx="491727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cs typeface="Calibri"/>
              </a:rPr>
              <a:t>Figure 6. Model of floc sweeping in the CWFP horizontal flow clarifier</a:t>
            </a:r>
          </a:p>
        </p:txBody>
      </p:sp>
      <p:pic>
        <p:nvPicPr>
          <p:cNvPr id="42" name="Picture 41">
            <a:extLst>
              <a:ext uri="{FF2B5EF4-FFF2-40B4-BE49-F238E27FC236}">
                <a16:creationId xmlns:a16="http://schemas.microsoft.com/office/drawing/2014/main" id="{D0B06EA5-F1D7-8C18-4798-AC40D646E5DE}"/>
              </a:ext>
            </a:extLst>
          </p:cNvPr>
          <p:cNvPicPr>
            <a:picLocks noChangeAspect="1"/>
          </p:cNvPicPr>
          <p:nvPr/>
        </p:nvPicPr>
        <p:blipFill>
          <a:blip r:embed="rId22"/>
          <a:stretch>
            <a:fillRect/>
          </a:stretch>
        </p:blipFill>
        <p:spPr>
          <a:xfrm>
            <a:off x="25449811" y="8446174"/>
            <a:ext cx="5544710" cy="2549923"/>
          </a:xfrm>
          <a:prstGeom prst="rect">
            <a:avLst/>
          </a:prstGeom>
        </p:spPr>
      </p:pic>
      <p:pic>
        <p:nvPicPr>
          <p:cNvPr id="31" name="Picture 30">
            <a:extLst>
              <a:ext uri="{FF2B5EF4-FFF2-40B4-BE49-F238E27FC236}">
                <a16:creationId xmlns:a16="http://schemas.microsoft.com/office/drawing/2014/main" id="{2D52A4BB-2B29-803A-401B-2AFC397E9650}"/>
              </a:ext>
            </a:extLst>
          </p:cNvPr>
          <p:cNvPicPr>
            <a:picLocks noChangeAspect="1"/>
          </p:cNvPicPr>
          <p:nvPr/>
        </p:nvPicPr>
        <p:blipFill rotWithShape="1">
          <a:blip r:embed="rId23"/>
          <a:srcRect b="3508"/>
          <a:stretch/>
        </p:blipFill>
        <p:spPr>
          <a:xfrm>
            <a:off x="1384718" y="5988285"/>
            <a:ext cx="6671697" cy="3357786"/>
          </a:xfrm>
          <a:prstGeom prst="rect">
            <a:avLst/>
          </a:prstGeom>
        </p:spPr>
      </p:pic>
      <p:cxnSp>
        <p:nvCxnSpPr>
          <p:cNvPr id="49" name="Straight Connector 48">
            <a:extLst>
              <a:ext uri="{FF2B5EF4-FFF2-40B4-BE49-F238E27FC236}">
                <a16:creationId xmlns:a16="http://schemas.microsoft.com/office/drawing/2014/main" id="{1D3E5772-4AB6-94A5-8751-D696CCA7A6A9}"/>
              </a:ext>
            </a:extLst>
          </p:cNvPr>
          <p:cNvCxnSpPr>
            <a:cxnSpLocks/>
          </p:cNvCxnSpPr>
          <p:nvPr/>
        </p:nvCxnSpPr>
        <p:spPr>
          <a:xfrm>
            <a:off x="16719046" y="9346070"/>
            <a:ext cx="7340474" cy="0"/>
          </a:xfrm>
          <a:prstGeom prst="line">
            <a:avLst/>
          </a:prstGeom>
          <a:ln w="127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25186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671</Words>
  <Application>Microsoft Macintosh PowerPoint</Application>
  <PresentationFormat>Custom</PresentationFormat>
  <Paragraphs>112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Helvetica Neue</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42x72</dc:title>
  <dc:creator>Jay Larson</dc:creator>
  <dc:description>Quality poster printing
www.genigraphics.com
1-800-790-4001</dc:description>
  <cp:lastModifiedBy>Alex Alexander Gardocki</cp:lastModifiedBy>
  <cp:revision>2</cp:revision>
  <cp:lastPrinted>2023-11-14T03:59:40Z</cp:lastPrinted>
  <dcterms:created xsi:type="dcterms:W3CDTF">2013-02-10T21:14:48Z</dcterms:created>
  <dcterms:modified xsi:type="dcterms:W3CDTF">2026-05-16T07:40:46Z</dcterms:modified>
</cp:coreProperties>
</file>